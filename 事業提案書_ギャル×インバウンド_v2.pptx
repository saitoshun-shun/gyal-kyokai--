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6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88952" cy="310896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9202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ギャル × インバウンド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03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コンテンツビジネス事業提案書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1493"/>
                </a:solidFill>
              </a:rPr>
              <a:t>ギャル協会  ×  サイバーバズ  ×  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15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D2D2D"/>
                </a:solidFill>
              </a:rPr>
              <a:t>Year1：1億円　／　Year3：10億円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事業概要・ビジョン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solidFill>
            <a:srgbClr val="FFD6E8"/>
          </a:solidFill>
          <a:ln w="254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1493"/>
                </a:solidFill>
              </a:rPr>
              <a:t>「ギャル文化」を米国TikTok×インバウンド体験で世界に届け、1年1億・3年10億を目指す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77440"/>
            <a:ext cx="2743200" cy="4114800"/>
          </a:xfrm>
          <a:prstGeom prst="rect">
            <a:avLst/>
          </a:prstGeom>
          <a:solidFill>
            <a:srgbClr val="FFD6E8"/>
          </a:solidFill>
          <a:ln w="1905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2743200" cy="59436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40487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メディア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サイバーバズが米国向けTikTokアカウント（WESELL）を運営。ショートドラマ×グッズ販売で収益化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377440"/>
            <a:ext cx="27432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2377440"/>
            <a:ext cx="2743200" cy="59436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40487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体験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10896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ppgalclub参考の渋谷ギャル体験をインバウンド商品化。外国人に「本物のギャル体験」を提供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377440"/>
            <a:ext cx="2743200" cy="4114800"/>
          </a:xfrm>
          <a:prstGeom prst="rect">
            <a:avLst/>
          </a:prstGeom>
          <a:solidFill>
            <a:srgbClr val="FFD6E8"/>
          </a:solidFill>
          <a:ln w="1905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377440"/>
            <a:ext cx="2743200" cy="59436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40487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営業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10896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ENTIALがバズ社内PMとして稼働。人件費ゼロで企業・自治体へのB2B営業を推進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377440"/>
            <a:ext cx="27432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2377440"/>
            <a:ext cx="2743200" cy="59436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240487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10896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うさたにパイセン／ギャル協会がコンテンツを創出。バズがメディア展開・WESELL販売で収益化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3社の役割　〜それぞれが何をするか〜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57600" cy="5257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00" cy="9144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ギャル協会
うさたにパイセン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1493"/>
                </a:solidFill>
              </a:rPr>
              <a:t>IPオーナー・
コンテンツクリエイター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ショートドラマ出演・ネタ提供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ギャル文化の世界観発信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渋谷体験コンテンツの監修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578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海外向けコンテンツ創出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34440"/>
            <a:ext cx="3657600" cy="5257800"/>
          </a:xfrm>
          <a:prstGeom prst="rect">
            <a:avLst/>
          </a:prstGeom>
          <a:solidFill>
            <a:srgbClr val="FFD6E8"/>
          </a:solidFill>
          <a:ln w="254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34440"/>
            <a:ext cx="3657600" cy="9144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261872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サイバーバズ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21284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1493"/>
                </a:solidFill>
              </a:rPr>
              <a:t>メディアオーナー・
資金提供・実行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9260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TikTok/IGアカウント運営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7033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WESELL（EC）で商品販売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4805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制作費・活動費を全額負担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2578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広告枠の販売・拡散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234440"/>
            <a:ext cx="3657600" cy="5257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234440"/>
            <a:ext cx="3657600" cy="9144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261872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1284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1493"/>
                </a:solidFill>
              </a:rPr>
              <a:t>バズ社内PM・
営業統括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9260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バズ社内にPMとして常駐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7033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企業・自治体への営業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805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営業代理店の開拓・管理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2578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バズの人件費ゼロで稼働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6035040"/>
            <a:ext cx="3657600" cy="411480"/>
          </a:xfrm>
          <a:prstGeom prst="rect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60624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★ バズの人件費ゼロで稼働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9B4"/>
                </a:solidFill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9B4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プラットフォーム戦略　〜TikTok優先×IGサブ〜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5120640"/>
          </a:xfrm>
          <a:prstGeom prst="rect">
            <a:avLst/>
          </a:prstGeom>
          <a:solidFill>
            <a:srgbClr val="FFD6E8"/>
          </a:solidFill>
          <a:ln w="254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6858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TikTok（メイン）× WESELL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ターゲット：米国（1.7億ユーザー）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62072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WESELLの切り抜き機能でコンテンツ→販売がワンステップ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75304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バズがWESELLノウハウを既に保有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88536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ショートドラマ → コスメ・グッズ直販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01768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英語コンテンツで全世界にリーチ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15000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フォロワー目標：Year1→1万、Year3→50万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80160"/>
            <a:ext cx="5486400" cy="685800"/>
          </a:xfrm>
          <a:prstGeom prst="rect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2588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Instagram（サブ）× AI翻訳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48840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TikTokで当たったコンテンツを流用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62072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AI音声翻訳でブラジル（1.4億）・スペインに自動展開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75304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台湾ユーザー1,225万人（人口の51%）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88536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女性55%・25〜34歳メインがギャルとマッチ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01768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追加制作コストほぼゼロ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715000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▸  フォロワー目標：Year1→5,000、Year3→20万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3291840"/>
            <a:ext cx="5486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9B4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インバウンド体験コンテンツ　〜ppgalclub参考〜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渋谷ギャル体験を外国人向け商品化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68580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D2D2D"/>
                </a:solidFill>
              </a:rPr>
              <a:t>参考：@ppgalclub（Instagram 12.1万フォロワー）渋谷でのギャル体験フォトシュート。英語対応・Rakuten Travel Experiencesでも販売済み。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2743200" cy="658368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体験内容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194560"/>
            <a:ext cx="8503920" cy="658368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ギャルメイク・衣装着替え＋渋谷フォトシュート（60〜90分）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99232"/>
            <a:ext cx="2743200" cy="658368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906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価格設定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999232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30906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¥15,000〜30,000 / 人（ppgalclub相場参考）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03904"/>
            <a:ext cx="2743200" cy="658368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953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言語対応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803904"/>
            <a:ext cx="8503920" cy="658368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389534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英語・中国語字幕付き / SNSシェア前提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08576"/>
            <a:ext cx="2743200" cy="658368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000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コンテンツ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4608576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470001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体験の様子をTikTok/IGにショートドラマとして投稿 → メディアと連動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13248"/>
            <a:ext cx="2743200" cy="658368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5046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予約経路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5413248"/>
            <a:ext cx="8503920" cy="658368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550468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Rakuten Travel / Airbnb体験 / DM / ホテルアクティビティ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291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体験→コンテンツ→TikTok配信→新規集客 のサイクルで、撮影コストをメディア制作費として活用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収益モデル（5本柱）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457200" cy="4572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234440"/>
            <a:ext cx="1828800" cy="4572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618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収益源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234440"/>
            <a:ext cx="3200400" cy="4572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2618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概要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234440"/>
            <a:ext cx="2286000" cy="4572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2618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単価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234440"/>
            <a:ext cx="2560320" cy="4572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261872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規模感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783080"/>
            <a:ext cx="45720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1856231"/>
            <a:ext cx="320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1493"/>
                </a:solidFill>
              </a:rPr>
              <a:t>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783080"/>
            <a:ext cx="182880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1856231"/>
            <a:ext cx="1691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インバウンド体験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783080"/>
            <a:ext cx="320040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16352" y="1856231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渋谷ギャル体験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783080"/>
            <a:ext cx="228600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1856231"/>
            <a:ext cx="2148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D2D2D"/>
                </a:solidFill>
              </a:rPr>
              <a:t>¥15K〜30K/人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783080"/>
            <a:ext cx="256032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1856231"/>
            <a:ext cx="2423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D2D2D"/>
                </a:solidFill>
              </a:rPr>
              <a:t>月50→500人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651760"/>
            <a:ext cx="457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724912"/>
            <a:ext cx="320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1493"/>
                </a:solidFill>
              </a:rPr>
              <a:t>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265176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2724912"/>
            <a:ext cx="1691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広告タイアップ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2651760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16352" y="272491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企業×TikTokドラマ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2651760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62472" y="2724912"/>
            <a:ext cx="2148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D2D2D"/>
                </a:solidFill>
              </a:rPr>
              <a:t>200〜400万/案件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265176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2724912"/>
            <a:ext cx="2423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D2D2D"/>
                </a:solidFill>
              </a:rPr>
              <a:t>月1→8件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520439"/>
            <a:ext cx="45720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3593591"/>
            <a:ext cx="320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1493"/>
                </a:solidFill>
              </a:rPr>
              <a:t>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520439"/>
            <a:ext cx="182880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3593591"/>
            <a:ext cx="1691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WESELLグッズ販売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3520439"/>
            <a:ext cx="320040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16352" y="3593591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米国TikTok Shop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3520439"/>
            <a:ext cx="228600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62472" y="3593591"/>
            <a:ext cx="2148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D2D2D"/>
                </a:solidFill>
              </a:rPr>
              <a:t>粗利40〜50%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3520439"/>
            <a:ext cx="256032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192" y="3593591"/>
            <a:ext cx="2423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D2D2D"/>
                </a:solidFill>
              </a:rPr>
              <a:t>月100→2,000万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389120"/>
            <a:ext cx="457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4462272"/>
            <a:ext cx="320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1493"/>
                </a:solidFill>
              </a:rPr>
              <a:t>④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438912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" y="4462272"/>
            <a:ext cx="1691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IPライセンス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4389120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16352" y="446227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企業コラボ・公認ロゴ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4389120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62472" y="4462272"/>
            <a:ext cx="2148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D2D2D"/>
                </a:solidFill>
              </a:rPr>
              <a:t>月30〜500万/社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438912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94192" y="4462272"/>
            <a:ext cx="2423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D2D2D"/>
                </a:solidFill>
              </a:rPr>
              <a:t>2→20社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257800"/>
            <a:ext cx="45720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" y="5330952"/>
            <a:ext cx="320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1493"/>
                </a:solidFill>
              </a:rPr>
              <a:t>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5257800"/>
            <a:ext cx="182880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1832" y="5330952"/>
            <a:ext cx="1691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ギャル旅タイアップ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0" y="5257800"/>
            <a:ext cx="320040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16352" y="533095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自治体・観光協会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89320" y="5257800"/>
            <a:ext cx="228600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62472" y="5330952"/>
            <a:ext cx="2148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D2D2D"/>
                </a:solidFill>
              </a:rPr>
              <a:t>300〜700万/地域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21040" y="5257800"/>
            <a:ext cx="256032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94192" y="5330952"/>
            <a:ext cx="2423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D2D2D"/>
                </a:solidFill>
              </a:rPr>
              <a:t>年2→12案件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お金の流れ・収益分配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68580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1493"/>
                </a:solidFill>
              </a:rPr>
              <a:t>制作費・TikTok運営費はサイバーバズ全額負担　｜　ギャル協会リスクゼロ　｜　ENTIALバズ社内PM（バズの人件費なし）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2103120" cy="914400"/>
          </a:xfrm>
          <a:prstGeom prst="rect">
            <a:avLst/>
          </a:prstGeom>
          <a:solidFill>
            <a:srgbClr val="FF69B4"/>
          </a:solidFill>
          <a:ln w="1905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企業・自治体
（広告主）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2926080"/>
            <a:ext cx="2103120" cy="914400"/>
          </a:xfrm>
          <a:prstGeom prst="rect">
            <a:avLst/>
          </a:prstGeom>
          <a:solidFill>
            <a:srgbClr val="FF69B4"/>
          </a:solidFill>
          <a:ln w="1905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30175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ENTIAL
（受注・PM）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926080"/>
            <a:ext cx="2103120" cy="914400"/>
          </a:xfrm>
          <a:prstGeom prst="rect">
            <a:avLst/>
          </a:prstGeom>
          <a:solidFill>
            <a:srgbClr val="FF69B4"/>
          </a:solidFill>
          <a:ln w="1905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59" y="30175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サイバーバズ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4937760"/>
            <a:ext cx="2103120" cy="914400"/>
          </a:xfrm>
          <a:prstGeom prst="rect">
            <a:avLst/>
          </a:prstGeom>
          <a:solidFill>
            <a:srgbClr val="FF69B4"/>
          </a:solidFill>
          <a:ln w="1905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50292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ギャル協会
うさたにパイセン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2926080"/>
            <a:ext cx="2103120" cy="914400"/>
          </a:xfrm>
          <a:prstGeom prst="rect">
            <a:avLst/>
          </a:prstGeom>
          <a:solidFill>
            <a:srgbClr val="FF69B4"/>
          </a:solidFill>
          <a:ln w="1905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30175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WESELL
（米国EC）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291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広告費→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291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売上入金→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291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グッズ売上→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160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レベニューシェア↓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532120"/>
            <a:ext cx="3657600" cy="105156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9B4"/>
                </a:solidFill>
              </a:rPr>
              <a:t>ギャル協会取り分　約32%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出演・監修・IPロイヤリティ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5532120"/>
            <a:ext cx="3657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55778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9B4"/>
                </a:solidFill>
              </a:rPr>
              <a:t>サイバーバズ取り分　約50%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943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運営・制作費・利益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5532120"/>
            <a:ext cx="3657600" cy="105156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55778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9B4"/>
                </a:solidFill>
              </a:rPr>
              <a:t>ENTIAL取り分　約13%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943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PM・営業手数料（バズから）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3カ年収益計画　Year1：1億　→　Year3：10億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743200" cy="4572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収益源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234440"/>
            <a:ext cx="2468880" cy="4572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39" y="12618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Year1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234440"/>
            <a:ext cx="2468880" cy="4572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2618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Year2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1234440"/>
            <a:ext cx="2468880" cy="4572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2618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Year3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83080"/>
            <a:ext cx="2743200" cy="658368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74519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① インバウンド体験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783080"/>
            <a:ext cx="2468880" cy="658368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39" y="1874519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D2D2D"/>
                </a:solidFill>
              </a:rPr>
              <a:t>1,800万円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783080"/>
            <a:ext cx="2468880" cy="658368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874519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D2D2D"/>
                </a:solidFill>
              </a:rPr>
              <a:t>4,800万円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1783080"/>
            <a:ext cx="2468880" cy="658368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874519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D2D2D"/>
                </a:solidFill>
              </a:rPr>
              <a:t>15,000万円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3288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62432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② 広告タイアップ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2532888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39" y="26243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D2D2D"/>
                </a:solidFill>
              </a:rPr>
              <a:t>3,600万円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2532888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26243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D2D2D"/>
                </a:solidFill>
              </a:rPr>
              <a:t>10,800万円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2532888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26243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D2D2D"/>
                </a:solidFill>
              </a:rPr>
              <a:t>33,600万円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282696"/>
            <a:ext cx="2743200" cy="658368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374136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③ WESELLグッズ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3282696"/>
            <a:ext cx="2468880" cy="658368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39" y="3374136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D2D2D"/>
                </a:solidFill>
              </a:rPr>
              <a:t>1,200万円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3282696"/>
            <a:ext cx="2468880" cy="658368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3374136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D2D2D"/>
                </a:solidFill>
              </a:rPr>
              <a:t>6,000万円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3282696"/>
            <a:ext cx="2468880" cy="658368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374136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D2D2D"/>
                </a:solidFill>
              </a:rPr>
              <a:t>24,000万円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032504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123944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④ IPライセンス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4032504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39" y="4123944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D2D2D"/>
                </a:solidFill>
              </a:rPr>
              <a:t>600万円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4032504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4123944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D2D2D"/>
                </a:solidFill>
              </a:rPr>
              <a:t>1,200万円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20" y="4032504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4123944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D2D2D"/>
                </a:solidFill>
              </a:rPr>
              <a:t>6,000万円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782312"/>
            <a:ext cx="2743200" cy="658368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873751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⑤ ギャル旅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46120" y="4782312"/>
            <a:ext cx="2468880" cy="658368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39" y="4873751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D2D2D"/>
                </a:solidFill>
              </a:rPr>
              <a:t>800万円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60720" y="4782312"/>
            <a:ext cx="2468880" cy="658368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06440" y="4873751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D2D2D"/>
                </a:solidFill>
              </a:rPr>
              <a:t>2,500万円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75320" y="4782312"/>
            <a:ext cx="2468880" cy="658368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40" y="4873751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2D2D2D"/>
                </a:solidFill>
              </a:rPr>
              <a:t>6,000万円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532120"/>
            <a:ext cx="2743200" cy="658368"/>
          </a:xfrm>
          <a:prstGeom prst="rect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623559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合　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46120" y="5532120"/>
            <a:ext cx="2468880" cy="658368"/>
          </a:xfrm>
          <a:prstGeom prst="rect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39" y="5623559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</a:rPr>
              <a:t>8,000万円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0720" y="5532120"/>
            <a:ext cx="2468880" cy="658368"/>
          </a:xfrm>
          <a:prstGeom prst="rect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06440" y="5623559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</a:rPr>
              <a:t>約2億円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75320" y="5532120"/>
            <a:ext cx="2468880" cy="658368"/>
          </a:xfrm>
          <a:prstGeom prst="rect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21040" y="5623559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</a:rPr>
              <a:t>約8億円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7560" y="62819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1493"/>
                </a:solidFill>
              </a:rPr>
              <a:t>Year1→Year2: +216%成長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52159" y="62819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1493"/>
                </a:solidFill>
              </a:rPr>
              <a:t>Year2→Year3: +234%成長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ロードマップ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57600" cy="5303520"/>
          </a:xfrm>
          <a:prstGeom prst="rect">
            <a:avLst/>
          </a:prstGeom>
          <a:solidFill>
            <a:srgbClr val="FFD6E8"/>
          </a:solidFill>
          <a:ln w="254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00" cy="96012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1
0〜3ヶ月
仕込み期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□  3社間契約・役割・収益分配を合意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□  TikTokアカウント開設・初期10本制作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9079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□  渋谷ギャル体験を商品化（ppgalclub参考）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59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□  ENTIAL：営業代理店1〜2社開拓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06440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□  ホテル・旅行代理店への提案開始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34440"/>
            <a:ext cx="365760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34440"/>
            <a:ext cx="3657600" cy="96012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261872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2
3〜6ヶ月
初収益期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331720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□  インバウンド体験 月50人達成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00400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□  タイアップ案件 初回受注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069079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□  TikTokフォロワー1万人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937759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□  WESELL稼働・グッズ販売開始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806440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□  自治体案件1件提案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234440"/>
            <a:ext cx="365760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234440"/>
            <a:ext cx="3657600" cy="96012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261872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3
6〜36ヶ月
スケール期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331720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□  月次タイアップ案件8件安定稼働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200400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□  TikTokフォロワー50万人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069079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□  IG AI翻訳でブラジル・スペイン展開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937759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□  海外IPライセンス販売開始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806440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□  年間10億円達成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9B4"/>
                </a:solidFill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9B4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サイバーバズ打ち合わせ　確認事項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640080" cy="73152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481328"/>
            <a:ext cx="6035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1371600"/>
            <a:ext cx="5029200" cy="73152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48132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</a:rPr>
              <a:t>TikTokアカウントの名義・権利関係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5669280" cy="73152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813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バズ名義で進める方向で合意確認。WESELLアカウント設計も含む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640080" cy="73152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350008"/>
            <a:ext cx="6035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224028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35000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</a:rPr>
              <a:t>ENTIALのバズ社内PM稼働条件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240280"/>
            <a:ext cx="5669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35000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バズの人件費ゼロ前提。ENTIALの報酬はバズからの固定＋インセンティブ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640080" cy="73152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218688"/>
            <a:ext cx="6035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3108960"/>
            <a:ext cx="5029200" cy="73152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21868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</a:rPr>
              <a:t>コンテンツ制作費の上限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108960"/>
            <a:ext cx="5669280" cy="73152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21868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Phase1の先行投資額（目安：月200〜300万）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77639"/>
            <a:ext cx="640080" cy="73152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4087368"/>
            <a:ext cx="6035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3977639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0873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</a:rPr>
              <a:t>レベニューシェア比率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977639"/>
            <a:ext cx="5669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408736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ギャル協会：バズ＝4:6をたたき台。ENTIAL分は別途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46320"/>
            <a:ext cx="640080" cy="73152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4956048"/>
            <a:ext cx="6035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60" y="4846320"/>
            <a:ext cx="5029200" cy="73152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49560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</a:rPr>
              <a:t>インバウンド体験の実施体制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846320"/>
            <a:ext cx="5669280" cy="73152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95604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ppgalclub参考。渋谷でのギャル体験の運営オペレーション設計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640080" cy="73152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5824728"/>
            <a:ext cx="6035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571500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582472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</a:rPr>
              <a:t>KPI設定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5715000"/>
            <a:ext cx="5669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58247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TikTokフォロワー数・月次受注額・体験人数・Year1売上1億円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