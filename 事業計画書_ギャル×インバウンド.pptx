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D6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88952" cy="292608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4884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</a:rPr>
              <a:t>ギャル × インバウンド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コンテンツビジネス事業計画書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2120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1493"/>
                </a:solidFill>
              </a:rPr>
              <a:t>ギャル協会  ×  サイバーバズ  ×  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8888"/>
                </a:solidFill>
              </a:rPr>
              <a:t>2026年4月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ビジョン・事業概要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47120" cy="1188720"/>
          </a:xfrm>
          <a:prstGeom prst="rect">
            <a:avLst/>
          </a:prstGeom>
          <a:solidFill>
            <a:srgbClr val="FFD6E8"/>
          </a:solidFill>
          <a:ln w="254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1493"/>
                </a:solidFill>
              </a:rPr>
              <a:t>「ギャル文化」を日本最強のインバウンドコンテンツIPとして世界に届ける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9B4"/>
                </a:solidFill>
              </a:rPr>
              <a:t>事業概要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54680"/>
            <a:ext cx="11155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2D2D2D"/>
                </a:solidFill>
              </a:rPr>
              <a:t>訪日外国人が求める「本物の日本サブカルチャー体験」を、</a:t>
            </a:r>
          </a:p>
          <a:p>
            <a:pPr algn="l">
              <a:spcBef>
                <a:spcPts val="400"/>
              </a:spcBef>
            </a:pPr>
            <a:r>
              <a:rPr sz="1700" b="0">
                <a:solidFill>
                  <a:srgbClr val="2D2D2D"/>
                </a:solidFill>
              </a:rPr>
              <a:t>　▸  ギャル協会 / うさたにパイセンのIPをコアに</a:t>
            </a:r>
          </a:p>
          <a:p>
            <a:pPr algn="l">
              <a:spcBef>
                <a:spcPts val="400"/>
              </a:spcBef>
            </a:pPr>
            <a:r>
              <a:rPr sz="1700" b="0">
                <a:solidFill>
                  <a:srgbClr val="2D2D2D"/>
                </a:solidFill>
              </a:rPr>
              <a:t>　▸  TikTokショートドラマメディア（サイバーバズ名義）</a:t>
            </a:r>
          </a:p>
          <a:p>
            <a:pPr algn="l">
              <a:spcBef>
                <a:spcPts val="400"/>
              </a:spcBef>
            </a:pPr>
            <a:r>
              <a:rPr sz="1700" b="0">
                <a:solidFill>
                  <a:srgbClr val="2D2D2D"/>
                </a:solidFill>
              </a:rPr>
              <a:t>　▸  リアル体験コンテンツ（渋谷ツアー・ギャル旅）</a:t>
            </a:r>
          </a:p>
          <a:p>
            <a:pPr algn="l">
              <a:spcBef>
                <a:spcPts val="400"/>
              </a:spcBef>
            </a:pPr>
            <a:r>
              <a:rPr sz="1700" b="0">
                <a:solidFill>
                  <a:srgbClr val="2D2D2D"/>
                </a:solidFill>
              </a:rPr>
              <a:t>　▸  企業・自治体へのタイアップ営業（ENTIAL）</a:t>
            </a:r>
          </a:p>
          <a:p>
            <a:pPr algn="l">
              <a:spcBef>
                <a:spcPts val="400"/>
              </a:spcBef>
            </a:pPr>
            <a:r>
              <a:rPr sz="1700" b="0">
                <a:solidFill>
                  <a:srgbClr val="2D2D2D"/>
                </a:solidFill>
              </a:rPr>
              <a:t>　の４軸で収益化するビジネス。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市場背景　〜なぜ今ギャル×インバウンドか〜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47120" cy="1005840"/>
          </a:xfrm>
          <a:prstGeom prst="rect">
            <a:avLst/>
          </a:prstGeom>
          <a:solidFill>
            <a:srgbClr val="FFD6E8"/>
          </a:solidFill>
          <a:ln w="1905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36192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9B4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554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D2D2D"/>
                </a:solidFill>
              </a:rPr>
              <a:t>訪日外国人数が過去最高を更新、インバウンド消費が拡大継続中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1124712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770632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9B4"/>
                </a:solidFill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788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D2D2D"/>
                </a:solidFill>
              </a:rPr>
              <a:t>海外での「ギャル文化」認知がSNSを中心に急上昇（Y2Kブーム・日本サブカル人気）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40480"/>
            <a:ext cx="11247120" cy="1005840"/>
          </a:xfrm>
          <a:prstGeom prst="rect">
            <a:avLst/>
          </a:prstGeom>
          <a:solidFill>
            <a:srgbClr val="FFD6E8"/>
          </a:solidFill>
          <a:ln w="1905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005072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9B4"/>
                </a:solidFill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023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D2D2D"/>
                </a:solidFill>
              </a:rPr>
              <a:t>観光庁・自治体がインバウンド向けコンテンツに積極的に予算を投下中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074920"/>
            <a:ext cx="1124712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239512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9B4"/>
                </a:solidFill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5257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D2D2D"/>
                </a:solidFill>
              </a:rPr>
              <a:t>ギャル × インバウンドを商品化している競合は現時点でゼロ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3社の役割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</a:rP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3657600" cy="512064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3657600" cy="77724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ギャル協会
うさたにパイセン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1493"/>
                </a:solidFill>
              </a:rPr>
              <a:t>IPオーナー・クリエイター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8892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2D2D"/>
                </a:solidFill>
              </a:rPr>
              <a:t>▸  世界観・企画・出演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611879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2D2D"/>
                </a:solidFill>
              </a:rPr>
              <a:t>▸  ギャル文化の発信源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43484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2D2D"/>
                </a:solidFill>
              </a:rPr>
              <a:t>▸  コンテンツのコア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280160"/>
            <a:ext cx="3657600" cy="5120640"/>
          </a:xfrm>
          <a:prstGeom prst="rect">
            <a:avLst/>
          </a:prstGeom>
          <a:solidFill>
            <a:srgbClr val="FFD6E8"/>
          </a:solidFill>
          <a:ln w="254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280160"/>
            <a:ext cx="3657600" cy="77724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298448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サイバーバズ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1488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1493"/>
                </a:solidFill>
              </a:rPr>
              <a:t>メディアオーナー・実行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78892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2D2D"/>
                </a:solidFill>
              </a:rPr>
              <a:t>▸  TikTokアカウント運営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611879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2D2D"/>
                </a:solidFill>
              </a:rPr>
              <a:t>▸  広告販売・拡散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443484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2D2D"/>
                </a:solidFill>
              </a:rPr>
              <a:t>▸  制作費・活動費を負担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280160"/>
            <a:ext cx="3657600" cy="512064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280160"/>
            <a:ext cx="3657600" cy="77724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1298448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1488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1493"/>
                </a:solidFill>
              </a:rPr>
              <a:t>営業部隊・プロジェクト管理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278892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2D2D"/>
                </a:solidFill>
              </a:rPr>
              <a:t>▸  企業・自治体への営業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3611879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2D2D"/>
                </a:solidFill>
              </a:rPr>
              <a:t>▸  営業代理店の開拓・管理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443484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2D2D"/>
                </a:solidFill>
              </a:rPr>
              <a:t>▸  進行・請求管理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37490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69B4"/>
                </a:solidFill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7490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69B4"/>
                </a:solidFill>
              </a:rPr>
              <a:t>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収益の流れ・お金の設計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926080"/>
            <a:ext cx="2286000" cy="1005840"/>
          </a:xfrm>
          <a:prstGeom prst="rect">
            <a:avLst/>
          </a:prstGeom>
          <a:solidFill>
            <a:srgbClr val="FF69B4"/>
          </a:solidFill>
          <a:ln w="12700">
            <a:solidFill>
              <a:srgbClr val="FF14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01752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企業・自治体
（広告主）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2926080"/>
            <a:ext cx="2286000" cy="1005840"/>
          </a:xfrm>
          <a:prstGeom prst="rect">
            <a:avLst/>
          </a:prstGeom>
          <a:solidFill>
            <a:srgbClr val="FF69B4"/>
          </a:solidFill>
          <a:ln w="12700">
            <a:solidFill>
              <a:srgbClr val="FF14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301752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ENTIAL
（受注窓口）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926080"/>
            <a:ext cx="2286000" cy="1005840"/>
          </a:xfrm>
          <a:prstGeom prst="rect">
            <a:avLst/>
          </a:prstGeom>
          <a:solidFill>
            <a:srgbClr val="FF69B4"/>
          </a:solidFill>
          <a:ln w="12700">
            <a:solidFill>
              <a:srgbClr val="FF14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301752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サイバーバズ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5029200"/>
            <a:ext cx="2286000" cy="1005840"/>
          </a:xfrm>
          <a:prstGeom prst="rect">
            <a:avLst/>
          </a:prstGeom>
          <a:solidFill>
            <a:srgbClr val="FF69B4"/>
          </a:solidFill>
          <a:ln w="12700">
            <a:solidFill>
              <a:srgbClr val="FF14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51206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ギャル協会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2461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</a:rPr>
              <a:t>▶  広告費・タイアップ費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32461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</a:rPr>
              <a:t>▶  売上入金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4348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</a:rPr>
              <a:t>レベニューシェア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1148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</a:rPr>
              <a:t>営業手数料
(固定＋インセンティブ)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280160"/>
            <a:ext cx="11247120" cy="777240"/>
          </a:xfrm>
          <a:prstGeom prst="rect">
            <a:avLst/>
          </a:prstGeom>
          <a:solidFill>
            <a:srgbClr val="FFD6E8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1371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D2D2D"/>
                </a:solidFill>
              </a:rPr>
              <a:t>制作費・TikTok運営費はサイバーバズ負担　｜　ギャル協会はリスクゼロ　｜　レベニューシェア比率：バズ：ギャル協会 ＝ 6:4〜7:3（要交渉）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広告商品パッケージ（インバウンド特化）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1371600" cy="109728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554480"/>
            <a:ext cx="133502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Package 1</a:t>
            </a:r>
          </a:p>
        </p:txBody>
      </p:sp>
      <p:sp>
        <p:nvSpPr>
          <p:cNvPr id="7" name="Rectangle 6"/>
          <p:cNvSpPr/>
          <p:nvPr/>
        </p:nvSpPr>
        <p:spPr>
          <a:xfrm>
            <a:off x="1737360" y="1325880"/>
            <a:ext cx="5943600" cy="1097280"/>
          </a:xfrm>
          <a:prstGeom prst="rect">
            <a:avLst/>
          </a:prstGeom>
          <a:solidFill>
            <a:srgbClr val="FFD6E8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4519" y="1581912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2D2D"/>
                </a:solidFill>
              </a:rPr>
              <a:t>ギャル旅 × 地方観光タイアップ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0" y="1325880"/>
            <a:ext cx="2468880" cy="1097280"/>
          </a:xfrm>
          <a:prstGeom prst="rect">
            <a:avLst/>
          </a:prstGeom>
          <a:solidFill>
            <a:srgbClr val="FFD6E8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1581912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</a:rPr>
              <a:t>自治体・観光協会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49840" y="1325880"/>
            <a:ext cx="1920240" cy="109728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95560" y="1581912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300〜700万/地域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624328"/>
            <a:ext cx="1371600" cy="109728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2852928"/>
            <a:ext cx="133502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Package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37360" y="2624328"/>
            <a:ext cx="5943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74519" y="2880360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2D2D"/>
                </a:solidFill>
              </a:rPr>
              <a:t>渋谷ギャル文化体験ツアー × メディア化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0" y="2624328"/>
            <a:ext cx="24688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88036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</a:rPr>
              <a:t>ホテル・旅行代理店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149840" y="2624328"/>
            <a:ext cx="1920240" cy="109728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95560" y="288036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50〜150万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922776"/>
            <a:ext cx="1371600" cy="109728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4151376"/>
            <a:ext cx="133502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Package 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37360" y="3922776"/>
            <a:ext cx="5943600" cy="1097280"/>
          </a:xfrm>
          <a:prstGeom prst="rect">
            <a:avLst/>
          </a:prstGeom>
          <a:solidFill>
            <a:srgbClr val="FFD6E8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74519" y="4178808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2D2D"/>
                </a:solidFill>
              </a:rPr>
              <a:t>インバウンド向けショートドラマ広告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960" y="3922776"/>
            <a:ext cx="2468880" cy="1097280"/>
          </a:xfrm>
          <a:prstGeom prst="rect">
            <a:avLst/>
          </a:prstGeom>
          <a:solidFill>
            <a:srgbClr val="FFD6E8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4178808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</a:rPr>
              <a:t>免税店・コスメ・決済系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49840" y="3922776"/>
            <a:ext cx="1920240" cy="109728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95560" y="4178808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150〜400万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221224"/>
            <a:ext cx="1371600" cy="109728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" y="5449824"/>
            <a:ext cx="133502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Package 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37360" y="5221224"/>
            <a:ext cx="5943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74519" y="5477256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2D2D"/>
                </a:solidFill>
              </a:rPr>
              <a:t>「ギャル協会公認」コンテンツライセンス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80960" y="5221224"/>
            <a:ext cx="24688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0" y="5477256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</a:rPr>
              <a:t>海外メディア・観光アプリ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149840" y="5221224"/>
            <a:ext cx="1920240" cy="109728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95560" y="5477256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月20〜80万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0" y="96012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88888"/>
                </a:solidFill>
              </a:rPr>
              <a:t>商品名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9601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88888"/>
                </a:solidFill>
              </a:rPr>
              <a:t>ターゲット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960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88888"/>
                </a:solidFill>
              </a:rPr>
              <a:t>参考単価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営業戦略（ENTIALの動き方）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9B4"/>
                </a:solidFill>
              </a:rPr>
              <a:t>ターゲット優先順位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914400" cy="777240"/>
          </a:xfrm>
          <a:prstGeom prst="rect">
            <a:avLst/>
          </a:prstGeom>
          <a:solidFill>
            <a:srgbClr val="FFD6E8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47088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69B4"/>
                </a:solidFill>
              </a:rPr>
              <a:t>★★★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847088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</a:rPr>
              <a:t>ホテル・旅行代理店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847088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8888"/>
                </a:solidFill>
              </a:rPr>
              <a:t>意思決定が速く予算あり。インバウンド需要でピーク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43200"/>
            <a:ext cx="914400" cy="777240"/>
          </a:xfrm>
          <a:prstGeom prst="rect">
            <a:avLst/>
          </a:prstGeom>
          <a:solidFill>
            <a:srgbClr val="FFD6E8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852928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69B4"/>
                </a:solidFill>
              </a:rPr>
              <a:t>★★★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852928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</a:rPr>
              <a:t>免税店・百貨店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852928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8888"/>
                </a:solidFill>
              </a:rPr>
              <a:t>インバウンド消費に直結。単価が高く継続案件になりやすい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749039"/>
            <a:ext cx="914400" cy="777240"/>
          </a:xfrm>
          <a:prstGeom prst="rect">
            <a:avLst/>
          </a:prstGeom>
          <a:solidFill>
            <a:srgbClr val="FFD6E8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858768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69B4"/>
                </a:solidFill>
              </a:rPr>
              <a:t>★★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858768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</a:rPr>
              <a:t>地方自治体・観光協会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858768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8888"/>
                </a:solidFill>
              </a:rPr>
              <a:t>予算大だが意思決定遅い。補助金活用でハードル下げられる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754880"/>
            <a:ext cx="914400" cy="777240"/>
          </a:xfrm>
          <a:prstGeom prst="rect">
            <a:avLst/>
          </a:prstGeom>
          <a:solidFill>
            <a:srgbClr val="FFD6E8"/>
          </a:solidFill>
          <a:ln w="127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864608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69B4"/>
                </a:solidFill>
              </a:rPr>
              <a:t>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864608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</a:rPr>
              <a:t>OTA・体験予約サービス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864608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8888"/>
                </a:solidFill>
              </a:rPr>
              <a:t>拡散力大。TikTokが育ってから本格攻略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715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9B4"/>
                </a:solidFill>
              </a:rPr>
              <a:t>ENTIALの動き方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0807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</a:rPr>
              <a:t>①営業代理店1〜2社を開拓（インバウンド・観光系に強い代理店）　→　②代理店経由でホテル・旅行代理店・百貨店へ提案　→　③自治体案件は補助金スキームとセットで直接提案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ロードマップ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3657600" cy="5212080"/>
          </a:xfrm>
          <a:prstGeom prst="rect">
            <a:avLst/>
          </a:prstGeom>
          <a:solidFill>
            <a:srgbClr val="FFD6E8"/>
          </a:solidFill>
          <a:ln w="254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657600" cy="100584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61872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Phase 1
0〜3ヶ月
仕込み期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</a:rPr>
              <a:t>□  3社間の契約・役割・収益分配を合意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9184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</a:rPr>
              <a:t>□  TikTokアカウント開設・初期コンテンツ10本制作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0624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</a:rPr>
              <a:t>□  ENTIALが営業代理店1〜2社を開拓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12064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</a:rPr>
              <a:t>□  ホテル・旅行代理店への初回提案開始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234440"/>
            <a:ext cx="3657600" cy="521208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234440"/>
            <a:ext cx="3657600" cy="100584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261872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Phase 2
3〜6ヶ月
初収益期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37744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</a:rPr>
              <a:t>□  タイアップ案件 初回受注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29184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</a:rPr>
              <a:t>□  TikTokフォロワー 1万人達成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420624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</a:rPr>
              <a:t>□  自治体案件 1件提案・交渉開始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234440"/>
            <a:ext cx="3657600" cy="521208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234440"/>
            <a:ext cx="3657600" cy="100584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261872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Phase 3
6〜12ヶ月
スケール期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37744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</a:rPr>
              <a:t>□  月次タイアップ案件を安定受注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29184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</a:rPr>
              <a:t>□  TikTok英語字幕で海外フォロワー獲得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20624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</a:rPr>
              <a:t>□  ギャルIPの海外ライセンス販売開始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512064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</a:rPr>
              <a:t>□  神7組成・複数案件を並走できる体制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6200" y="3657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69B4"/>
                </a:solidFill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3657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69B4"/>
                </a:solidFill>
              </a:rPr>
              <a:t>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サイバーバズ打ち合わせ　確認事項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94360" cy="77724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81328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417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2D2D"/>
                </a:solidFill>
              </a:rPr>
              <a:t>TikTokアカウントの名義・権利関係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1051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8888"/>
                </a:solidFill>
              </a:rPr>
              <a:t>バズ名義で進める方向で合意確認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77440"/>
            <a:ext cx="594360" cy="77724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487168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423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2D2D"/>
                </a:solidFill>
              </a:rPr>
              <a:t>コンテンツ制作費の上限設定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1635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8888"/>
                </a:solidFill>
              </a:rPr>
              <a:t>Phase 1の先行投資額を決める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383280"/>
            <a:ext cx="594360" cy="77724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493008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429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2D2D"/>
                </a:solidFill>
              </a:rPr>
              <a:t>レベニューシェア比率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822191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8888"/>
                </a:solidFill>
              </a:rPr>
              <a:t>ギャル協会との分配。6:4をたたき台に交渉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389120"/>
            <a:ext cx="594360" cy="77724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498848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4348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2D2D"/>
                </a:solidFill>
              </a:rPr>
              <a:t>ENTIALへの営業手数料スキーム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8280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8888"/>
                </a:solidFill>
              </a:rPr>
              <a:t>固定費＋売上連動インセンティブの設計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394960"/>
            <a:ext cx="594360" cy="77724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5504688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4406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2D2D"/>
                </a:solidFill>
              </a:rPr>
              <a:t>KPI設定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83387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8888"/>
                </a:solidFill>
              </a:rPr>
              <a:t>TikTokフォロワー数・月次受注額・1年の売上目標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