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9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30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7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09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70624-C9C6-2CCE-B88A-F6FAFBDA5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C990A2-CE1A-391C-A981-3A72324F0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4FA323-B04C-C64C-4B4E-2264E38B1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2D1F1-8C65-8EE9-A948-DFF5423C3F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27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協業イメージ図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4C0D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ギャル協会 × サイバーバズ × ENTIAL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A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本資料はギャル協会への説明用協業構造イメージです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3社それぞれの役割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3474720"/>
          </a:xfrm>
          <a:prstGeom prst="rect">
            <a:avLst/>
          </a:prstGeom>
          <a:solidFill>
            <a:srgbClr val="2A0D1A"/>
          </a:solidFill>
          <a:ln w="19050">
            <a:solidFill>
              <a:srgbClr val="D453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51760" cy="82296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53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ギャル協会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C0D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思想・ビジョンの発信源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286000" cy="18288"/>
          </a:xfrm>
          <a:prstGeom prst="rect">
            <a:avLst/>
          </a:prstGeom>
          <a:solidFill>
            <a:srgbClr val="44223A"/>
          </a:solidFill>
          <a:ln w="12700">
            <a:solidFill>
              <a:srgbClr val="4422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47472" y="23317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53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▸  </a:t>
            </a:r>
            <a:r>
              <a:rPr lang="en-US" sz="13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独自の思想・世界観を持つ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28986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53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▸  </a:t>
            </a:r>
            <a:r>
              <a:rPr lang="en-US" sz="13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やりたいことを自ら実行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346557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53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▸  </a:t>
            </a:r>
            <a:r>
              <a:rPr lang="en-US" sz="13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IPとしてのコアを担う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63240" y="1097280"/>
            <a:ext cx="3017520" cy="3474720"/>
          </a:xfrm>
          <a:prstGeom prst="rect">
            <a:avLst/>
          </a:prstGeom>
          <a:solidFill>
            <a:srgbClr val="0A2020"/>
          </a:solidFill>
          <a:ln w="317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063240" y="1097280"/>
            <a:ext cx="3017520" cy="822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566160" y="1234440"/>
            <a:ext cx="1920240" cy="347472"/>
          </a:xfrm>
          <a:prstGeom prst="rect">
            <a:avLst/>
          </a:prstGeom>
          <a:solidFill>
            <a:srgbClr val="028090">
              <a:alpha val="4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566160" y="1234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FE1C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ハブ・橋渡し役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54680" y="16733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ENTIAL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154680" y="215798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E1C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サイバーバズサイドとして機能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2523744"/>
            <a:ext cx="2743200" cy="18288"/>
          </a:xfrm>
          <a:prstGeom prst="rect">
            <a:avLst/>
          </a:prstGeom>
          <a:solidFill>
            <a:srgbClr val="124040"/>
          </a:solidFill>
          <a:ln w="12700">
            <a:solidFill>
              <a:srgbClr val="124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154680" y="270662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▸  </a:t>
            </a:r>
            <a:r>
              <a:rPr lang="en-US" sz="13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ギャル協会の思想を解釈・翻訳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54680" y="32552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▸  </a:t>
            </a:r>
            <a:r>
              <a:rPr lang="en-US" sz="13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サイバーバズ社内チームへ橋渡し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54680" y="380390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▸  </a:t>
            </a:r>
            <a:r>
              <a:rPr lang="en-US" sz="13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文化ギャップを埋めるグルー役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1097280"/>
            <a:ext cx="2651760" cy="3474720"/>
          </a:xfrm>
          <a:prstGeom prst="rect">
            <a:avLst/>
          </a:prstGeom>
          <a:solidFill>
            <a:srgbClr val="0A1530"/>
          </a:solidFill>
          <a:ln w="1905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6217920" y="1097280"/>
            <a:ext cx="2651760" cy="8229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309360" y="12618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85FA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サイバーバズ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09360" y="17556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D4F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リソース・実行の提供者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2148840"/>
            <a:ext cx="2377440" cy="18288"/>
          </a:xfrm>
          <a:prstGeom prst="rect">
            <a:avLst/>
          </a:prstGeom>
          <a:solidFill>
            <a:srgbClr val="1A2A44"/>
          </a:solidFill>
          <a:ln w="12700">
            <a:solidFill>
              <a:srgbClr val="1A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30936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5FA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▸  </a:t>
            </a:r>
            <a:r>
              <a:rPr lang="en-US" sz="13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お金・リソースを提供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2898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5FA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▸  </a:t>
            </a:r>
            <a:r>
              <a:rPr lang="en-US" sz="13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ギャル協会をIPとして展開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346557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5FA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▸  </a:t>
            </a:r>
            <a:r>
              <a:rPr lang="en-US" sz="13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社内チームが実行を担う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協業の流れ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8686800" cy="3566160"/>
          </a:xfrm>
          <a:prstGeom prst="rect">
            <a:avLst/>
          </a:prstGeom>
          <a:solidFill>
            <a:srgbClr val="0A1530">
              <a:alpha val="70000"/>
            </a:srgbClr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D4F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サイバーバズ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011680" cy="2286000"/>
          </a:xfrm>
          <a:prstGeom prst="rect">
            <a:avLst/>
          </a:prstGeom>
          <a:solidFill>
            <a:srgbClr val="2A0D1A"/>
          </a:solidFill>
          <a:ln w="25400">
            <a:solidFill>
              <a:srgbClr val="D453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53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ギャル協会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思想・ビジョン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を実行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2770632"/>
            <a:ext cx="128016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11880" y="2624328"/>
            <a:ext cx="228600" cy="329184"/>
          </a:xfrm>
          <a:prstGeom prst="rtTriangl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377440" y="24048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E1C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思想を共有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9040" y="1645920"/>
            <a:ext cx="2103120" cy="2286000"/>
          </a:xfrm>
          <a:prstGeom prst="rect">
            <a:avLst/>
          </a:prstGeom>
          <a:solidFill>
            <a:srgbClr val="0A2020"/>
          </a:solidFill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749040" y="1645920"/>
            <a:ext cx="109728" cy="2286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93192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ENTIAL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31920" y="2286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E1C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橋渡し・翻訳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0" y="2670048"/>
            <a:ext cx="1645920" cy="18288"/>
          </a:xfrm>
          <a:prstGeom prst="rect">
            <a:avLst/>
          </a:prstGeom>
          <a:solidFill>
            <a:srgbClr val="124040"/>
          </a:solidFill>
          <a:ln w="12700">
            <a:solidFill>
              <a:srgbClr val="124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913632" y="2761488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E1C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・思想を解釈
・社内向けに変換
・進行管理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97880" y="2770632"/>
            <a:ext cx="1188720" cy="3657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967728" y="2624328"/>
            <a:ext cx="228600" cy="329184"/>
          </a:xfrm>
          <a:prstGeom prst="rtTriangl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852160" y="24048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D4F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翻訳・展開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0" y="1645920"/>
            <a:ext cx="1554480" cy="2286000"/>
          </a:xfrm>
          <a:prstGeom prst="rect">
            <a:avLst/>
          </a:prstGeom>
          <a:solidFill>
            <a:srgbClr val="0A1530"/>
          </a:solidFill>
          <a:ln w="254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7150608" y="1828800"/>
            <a:ext cx="1517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5FA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サイバーバズ
社内チーム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50608" y="2788920"/>
            <a:ext cx="1517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リソース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実行力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412480" cy="914400"/>
          </a:xfrm>
          <a:prstGeom prst="rect">
            <a:avLst/>
          </a:prstGeom>
          <a:solidFill>
            <a:srgbClr val="2A0D1A"/>
          </a:solidFill>
          <a:ln w="19050">
            <a:solidFill>
              <a:srgbClr val="D453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2296" cy="914400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53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ギャル協会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3619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思想・ビジョンを持ち、やりたいことを実行するコア存在。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サイバーバズのIPとして展開される。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240280"/>
            <a:ext cx="8412480" cy="914400"/>
          </a:xfrm>
          <a:prstGeom prst="rect">
            <a:avLst/>
          </a:prstGeom>
          <a:solidFill>
            <a:srgbClr val="0A2020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82296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40080" y="23134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ENTIAL（橋渡し役）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67919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サイバーバズサイドとして、ギャル協会の思想を社内向けに翻訳・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橋渡しするハブ。両者の文化をつなぐグルー的存在。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383280"/>
            <a:ext cx="8412480" cy="914400"/>
          </a:xfrm>
          <a:prstGeom prst="rect">
            <a:avLst/>
          </a:prstGeom>
          <a:solidFill>
            <a:srgbClr val="0A1530"/>
          </a:solidFill>
          <a:ln w="1905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11480" y="3383280"/>
            <a:ext cx="82296" cy="9144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4564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5FA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サイバーバズ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82219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リソース・資金・実行力を提供。社内チームがENTIAL経由で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ギャル協会とつながり、IP展開を推進する。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お金の流れ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22860"/>
          </a:xfrm>
          <a:prstGeom prst="rect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286000" cy="914400"/>
          </a:xfrm>
          <a:prstGeom prst="rect">
            <a:avLst/>
          </a:prstGeom>
          <a:solidFill>
            <a:srgbClr val="2A0D1A"/>
          </a:solidFill>
          <a:ln w="25400">
            <a:solidFill>
              <a:srgbClr val="D453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286000" cy="64008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453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ギャル協会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14813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C0D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思想・コンテンツ実行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914400"/>
            <a:ext cx="2286000" cy="914400"/>
          </a:xfrm>
          <a:prstGeom prst="rect">
            <a:avLst/>
          </a:prstGeom>
          <a:solidFill>
            <a:srgbClr val="0A2020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429000" y="914400"/>
            <a:ext cx="2286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429000" y="10789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80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ENTIAL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29000" y="14813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E1C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橋渡し・プロジェクト管理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37960" y="914400"/>
            <a:ext cx="2286000" cy="914400"/>
          </a:xfrm>
          <a:prstGeom prst="rect">
            <a:avLst/>
          </a:prstGeom>
          <a:solidFill>
            <a:srgbClr val="0A1530"/>
          </a:solidFill>
          <a:ln w="254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537960" y="914400"/>
            <a:ext cx="2286000" cy="640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537960" y="10789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5FA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サイバーバズ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14813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D4F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リソース・資金提供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965960"/>
            <a:ext cx="8503920" cy="475488"/>
          </a:xfrm>
          <a:prstGeom prst="rect">
            <a:avLst/>
          </a:prstGeom>
          <a:solidFill>
            <a:srgbClr val="1A1200">
              <a:alpha val="70000"/>
            </a:srgbClr>
          </a:solidFill>
          <a:ln w="6350">
            <a:solidFill>
              <a:srgbClr val="F0C0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65760" y="200253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5D4F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サイバーバズ 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200253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C06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コンテンツ・活動費を全額負担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93992" y="200253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0D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▶ ギャル協会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578608"/>
            <a:ext cx="8503920" cy="475488"/>
          </a:xfrm>
          <a:prstGeom prst="rect">
            <a:avLst/>
          </a:prstGeom>
          <a:solidFill>
            <a:srgbClr val="1A0A12">
              <a:alpha val="70000"/>
            </a:srgbClr>
          </a:solidFill>
          <a:ln w="6350">
            <a:solidFill>
              <a:srgbClr val="D453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365760" y="261518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C0D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ギャル協会 ◀▶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68880" y="261518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C0D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タイアップ等の収益をレベニューシェア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93992" y="261518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D4F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◀▶ サイバーバズ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191256"/>
            <a:ext cx="8503920" cy="475488"/>
          </a:xfrm>
          <a:prstGeom prst="rect">
            <a:avLst/>
          </a:prstGeom>
          <a:solidFill>
            <a:srgbClr val="081818">
              <a:alpha val="7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65760" y="322783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5D4F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サイバーバズ ▶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68880" y="322783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E1C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固定費 ＋ レベニューシェアを支払い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93992" y="322783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E1C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▶ ENTIAL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840480"/>
            <a:ext cx="8503920" cy="310896"/>
          </a:xfrm>
          <a:prstGeom prst="rect">
            <a:avLst/>
          </a:prstGeom>
          <a:solidFill>
            <a:srgbClr val="1A1200"/>
          </a:solidFill>
          <a:ln w="6350">
            <a:solidFill>
              <a:srgbClr val="F0C0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320040" y="3840480"/>
            <a:ext cx="64008" cy="310896"/>
          </a:xfrm>
          <a:prstGeom prst="rect">
            <a:avLst/>
          </a:prstGeom>
          <a:solidFill>
            <a:srgbClr val="F0C060"/>
          </a:solidFill>
          <a:ln w="12700">
            <a:solidFill>
              <a:srgbClr val="F0C0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475488" y="3858768"/>
            <a:ext cx="8275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バズがコンテンツ・活動費を全額持つため、ギャル協会はリスクゼロで動ける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187952"/>
            <a:ext cx="8503920" cy="310896"/>
          </a:xfrm>
          <a:prstGeom prst="rect">
            <a:avLst/>
          </a:prstGeom>
          <a:solidFill>
            <a:srgbClr val="1A0A12"/>
          </a:solidFill>
          <a:ln w="6350">
            <a:solidFill>
              <a:srgbClr val="D453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320040" y="4187952"/>
            <a:ext cx="64008" cy="310896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75488" y="4206240"/>
            <a:ext cx="8275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収益が出たタイミングでギャル協会とバズがレベニューシェアする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535424"/>
            <a:ext cx="8503920" cy="310896"/>
          </a:xfrm>
          <a:prstGeom prst="rect">
            <a:avLst/>
          </a:prstGeom>
          <a:solidFill>
            <a:srgbClr val="081818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320040" y="4535424"/>
            <a:ext cx="64008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475488" y="4553712"/>
            <a:ext cx="8275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ENTIALはバズから固定費＋収益連動の報酬を受け取り、安定して動ける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9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34EDF2-2F54-2DAD-8194-81C56519E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A3DFD3-D2F3-5CA0-44AD-486DA5F89D8A}"/>
              </a:ext>
            </a:extLst>
          </p:cNvPr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</a:rPr>
              <a:t>バズとの打ち合わせに向けてお願いしたいこと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307BB4C-10C9-4B85-824F-A1B00DBC2795}"/>
              </a:ext>
            </a:extLst>
          </p:cNvPr>
          <p:cNvSpPr/>
          <p:nvPr/>
        </p:nvSpPr>
        <p:spPr>
          <a:xfrm>
            <a:off x="457200" y="758952"/>
            <a:ext cx="8229600" cy="22860"/>
          </a:xfrm>
          <a:prstGeom prst="rect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0">
            <a:extLst>
              <a:ext uri="{FF2B5EF4-FFF2-40B4-BE49-F238E27FC236}">
                <a16:creationId xmlns:a16="http://schemas.microsoft.com/office/drawing/2014/main" id="{EDED781A-9214-1C70-0D29-8EBA4C89E8CE}"/>
              </a:ext>
            </a:extLst>
          </p:cNvPr>
          <p:cNvSpPr/>
          <p:nvPr/>
        </p:nvSpPr>
        <p:spPr>
          <a:xfrm>
            <a:off x="457200" y="100752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chemeClr val="bg1"/>
                </a:solidFill>
              </a:rPr>
              <a:t>打ち合わせに際して下記の整理をお願いします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9" name="Text 0">
            <a:extLst>
              <a:ext uri="{FF2B5EF4-FFF2-40B4-BE49-F238E27FC236}">
                <a16:creationId xmlns:a16="http://schemas.microsoft.com/office/drawing/2014/main" id="{098A4ADF-ADF0-279F-6D02-623CCD162ED1}"/>
              </a:ext>
            </a:extLst>
          </p:cNvPr>
          <p:cNvSpPr/>
          <p:nvPr/>
        </p:nvSpPr>
        <p:spPr>
          <a:xfrm>
            <a:off x="457200" y="1708720"/>
            <a:ext cx="8229600" cy="2718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①</a:t>
            </a:r>
            <a:r>
              <a:rPr lang="en-US" sz="1600" b="1" dirty="0" err="1">
                <a:solidFill>
                  <a:schemeClr val="bg1"/>
                </a:solidFill>
              </a:rPr>
              <a:t>今やっている内容（動かしているもの</a:t>
            </a:r>
            <a:r>
              <a:rPr lang="en-US" sz="1600" b="1" dirty="0">
                <a:solidFill>
                  <a:schemeClr val="bg1"/>
                </a:solidFill>
              </a:rPr>
              <a:t>）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②最終的なGOAL・この1年のGOAL（定量・定性）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③</a:t>
            </a:r>
            <a:r>
              <a:rPr lang="en-US" sz="1600" b="1" dirty="0" err="1">
                <a:solidFill>
                  <a:schemeClr val="bg1"/>
                </a:solidFill>
              </a:rPr>
              <a:t>今後の事業展開方針→海外にも広げていきたい（海外のギャルも巻き込みたい</a:t>
            </a:r>
            <a:r>
              <a:rPr lang="en-US" sz="1600" b="1" dirty="0">
                <a:solidFill>
                  <a:schemeClr val="bg1"/>
                </a:solidFill>
              </a:rPr>
              <a:t>）</a:t>
            </a:r>
          </a:p>
          <a:p>
            <a:pPr marL="0" indent="0">
              <a:buNone/>
            </a:pPr>
            <a:r>
              <a:rPr lang="en-US" sz="1600" b="1" dirty="0" err="1">
                <a:solidFill>
                  <a:schemeClr val="bg1"/>
                </a:solidFill>
              </a:rPr>
              <a:t>例：Youtubeチャンネル開設</a:t>
            </a:r>
            <a:r>
              <a:rPr lang="ja-JP" altLang="en-US" sz="1600" b="1">
                <a:solidFill>
                  <a:schemeClr val="bg1"/>
                </a:solidFill>
              </a:rPr>
              <a:t>（海外向けに）</a:t>
            </a:r>
            <a:endParaRPr lang="en-US" altLang="ja-JP" sz="16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ja-JP" altLang="en-US" sz="1600" b="1">
                <a:solidFill>
                  <a:schemeClr val="bg1"/>
                </a:solidFill>
              </a:rPr>
              <a:t>　</a:t>
            </a:r>
            <a:r>
              <a:rPr lang="en-US" altLang="ja-JP" sz="1600" b="1" dirty="0">
                <a:solidFill>
                  <a:schemeClr val="bg1"/>
                </a:solidFill>
              </a:rPr>
              <a:t>    </a:t>
            </a:r>
            <a:r>
              <a:rPr lang="ja-JP" altLang="en-US" sz="1600" b="1">
                <a:solidFill>
                  <a:schemeClr val="bg1"/>
                </a:solidFill>
              </a:rPr>
              <a:t>ギャルのエージェントみたいなものは作りたい（神</a:t>
            </a:r>
            <a:r>
              <a:rPr lang="en-US" altLang="ja-JP" sz="1600" b="1" dirty="0">
                <a:solidFill>
                  <a:schemeClr val="bg1"/>
                </a:solidFill>
              </a:rPr>
              <a:t>7</a:t>
            </a:r>
            <a:r>
              <a:rPr lang="ja-JP" altLang="en-US" sz="1600" b="1">
                <a:solidFill>
                  <a:schemeClr val="bg1"/>
                </a:solidFill>
              </a:rPr>
              <a:t>的なものを作る）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④</a:t>
            </a:r>
            <a:r>
              <a:rPr lang="en-US" sz="1600" b="1" dirty="0" err="1">
                <a:solidFill>
                  <a:schemeClr val="bg1"/>
                </a:solidFill>
              </a:rPr>
              <a:t>サポートしてほしい内容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⑤経済条件（7:3をベースにしたいが要相談）</a:t>
            </a:r>
          </a:p>
        </p:txBody>
      </p:sp>
    </p:spTree>
    <p:extLst>
      <p:ext uri="{BB962C8B-B14F-4D97-AF65-F5344CB8AC3E}">
        <p14:creationId xmlns:p14="http://schemas.microsoft.com/office/powerpoint/2010/main" val="1373835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4569</TotalTime>
  <Words>289</Words>
  <Application>Microsoft Macintosh PowerPoint</Application>
  <PresentationFormat>画面に合わせる (16:9)</PresentationFormat>
  <Paragraphs>77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9" baseType="lpstr">
      <vt:lpstr>Hiragino Kaku Gothic ProN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ギャル協会 × サイバーバズ 協業イメージ</dc:title>
  <dc:subject>PptxGenJS Presentation</dc:subject>
  <dc:creator>PptxGenJS</dc:creator>
  <cp:lastModifiedBy>Kento Miura</cp:lastModifiedBy>
  <cp:revision>3</cp:revision>
  <dcterms:created xsi:type="dcterms:W3CDTF">2026-04-02T11:14:59Z</dcterms:created>
  <dcterms:modified xsi:type="dcterms:W3CDTF">2026-04-06T10:07:00Z</dcterms:modified>
</cp:coreProperties>
</file>