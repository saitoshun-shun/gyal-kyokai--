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480344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JOINT BUSINESS PROPOSAL</a:t>
            </a:r>
            <a:endParaRPr lang="en-US" sz="734" dirty="0"/>
          </a:p>
        </p:txBody>
      </p:sp>
      <p:sp>
        <p:nvSpPr>
          <p:cNvPr id="4" name="Text 1"/>
          <p:cNvSpPr/>
          <p:nvPr/>
        </p:nvSpPr>
        <p:spPr>
          <a:xfrm>
            <a:off x="500063" y="1157734"/>
            <a:ext cx="4572000" cy="1499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403" b="1" spc="-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 ×</a:t>
            </a:r>
            <a:r>
              <a:rPr lang="en-US" sz="3403" b="1" spc="-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3403" b="1" spc="-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インバウンド</a:t>
            </a:r>
            <a:r>
              <a:rPr lang="en-US" sz="3403" b="1" spc="-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3403" b="1" spc="-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共同事業提案</a:t>
            </a:r>
            <a:endParaRPr lang="en-US" sz="3403" dirty="0"/>
          </a:p>
        </p:txBody>
      </p:sp>
      <p:sp>
        <p:nvSpPr>
          <p:cNvPr id="5" name="Text 2"/>
          <p:cNvSpPr/>
          <p:nvPr/>
        </p:nvSpPr>
        <p:spPr>
          <a:xfrm>
            <a:off x="500063" y="3085626"/>
            <a:ext cx="41433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Instagram運用 × TikTok Shop で、</a:t>
            </a: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ギャル文化を世界へ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00063" y="4298724"/>
            <a:ext cx="4803446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7B72A0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 × サイバーバズ × ENTIAL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00063" y="4611263"/>
            <a:ext cx="480344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A84A2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2026年4月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509227" y="807244"/>
            <a:ext cx="3071813" cy="3071813"/>
          </a:xfrm>
          <a:prstGeom prst="ellipse">
            <a:avLst/>
          </a:prstGeom>
          <a:solidFill>
            <a:srgbClr val="D9D0FF"/>
          </a:solidFill>
          <a:ln/>
        </p:spPr>
      </p:sp>
      <p:sp>
        <p:nvSpPr>
          <p:cNvPr id="9" name="Shape 6"/>
          <p:cNvSpPr/>
          <p:nvPr/>
        </p:nvSpPr>
        <p:spPr>
          <a:xfrm>
            <a:off x="5973570" y="1271588"/>
            <a:ext cx="2143125" cy="2143125"/>
          </a:xfrm>
          <a:prstGeom prst="ellipse">
            <a:avLst/>
          </a:prstGeom>
          <a:solidFill>
            <a:srgbClr val="FFFDF8">
              <a:alpha val="7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98053" y="1676102"/>
            <a:ext cx="149413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SHIBUYA POP BUSINESS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386122" y="1924348"/>
            <a:ext cx="1318022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16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Gyaru</a:t>
            </a:r>
            <a:r>
              <a:rPr lang="en-US" sz="2016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2016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to Global</a:t>
            </a:r>
            <a:endParaRPr lang="en-US" sz="2016" dirty="0"/>
          </a:p>
        </p:txBody>
      </p:sp>
      <p:sp>
        <p:nvSpPr>
          <p:cNvPr id="12" name="Text 9"/>
          <p:cNvSpPr/>
          <p:nvPr/>
        </p:nvSpPr>
        <p:spPr>
          <a:xfrm>
            <a:off x="6259320" y="2681585"/>
            <a:ext cx="1571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C759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体験と物販をつなぎ、文化そのものを収益化する。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838732" y="4064794"/>
            <a:ext cx="748308" cy="271463"/>
          </a:xfrm>
          <a:prstGeom prst="roundRect">
            <a:avLst/>
          </a:prstGeom>
          <a:solidFill>
            <a:srgbClr val="FFFFFF">
              <a:alpha val="70000"/>
            </a:srgbClr>
          </a:solidFill>
          <a:ln w="18288">
            <a:solidFill>
              <a:srgbClr val="EAD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8732" y="4064794"/>
            <a:ext cx="748308" cy="271463"/>
          </a:xfrm>
          <a:prstGeom prst="rect">
            <a:avLst/>
          </a:prstGeom>
          <a:noFill/>
          <a:ln/>
        </p:spPr>
        <p:txBody>
          <a:bodyPr wrap="square" lIns="136017" tIns="68072" rIns="136017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B72A0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658477" y="4064794"/>
            <a:ext cx="842963" cy="271463"/>
          </a:xfrm>
          <a:prstGeom prst="roundRect">
            <a:avLst/>
          </a:prstGeom>
          <a:solidFill>
            <a:srgbClr val="FFFFFF">
              <a:alpha val="70000"/>
            </a:srgbClr>
          </a:solidFill>
          <a:ln w="18288">
            <a:solidFill>
              <a:srgbClr val="EAD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8477" y="4064794"/>
            <a:ext cx="842963" cy="271463"/>
          </a:xfrm>
          <a:prstGeom prst="rect">
            <a:avLst/>
          </a:prstGeom>
          <a:noFill/>
          <a:ln/>
        </p:spPr>
        <p:txBody>
          <a:bodyPr wrap="square" lIns="136017" tIns="68072" rIns="136017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B72A0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 Shop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7572877" y="4064794"/>
            <a:ext cx="650081" cy="271463"/>
          </a:xfrm>
          <a:prstGeom prst="roundRect">
            <a:avLst/>
          </a:prstGeom>
          <a:solidFill>
            <a:srgbClr val="FFFFFF">
              <a:alpha val="70000"/>
            </a:srgbClr>
          </a:solidFill>
          <a:ln w="18288">
            <a:solidFill>
              <a:srgbClr val="EAD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2877" y="4064794"/>
            <a:ext cx="650081" cy="271463"/>
          </a:xfrm>
          <a:prstGeom prst="rect">
            <a:avLst/>
          </a:prstGeom>
          <a:noFill/>
          <a:ln/>
        </p:spPr>
        <p:txBody>
          <a:bodyPr wrap="square" lIns="136017" tIns="68072" rIns="136017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B72A0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Inbound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16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4325"/>
            <a:ext cx="82296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EXECUTIVE SUMMARY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457200" y="576858"/>
            <a:ext cx="4608556" cy="582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この事業、一言で言うとこういうことです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457200" y="1438349"/>
            <a:ext cx="4279385" cy="2545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55" b="1" spc="-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ギャル文化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×</a:t>
            </a:r>
            <a:r>
              <a:rPr lang="en-US" sz="2755" b="1" spc="-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インバウン</a:t>
            </a:r>
            <a:r>
              <a:rPr lang="en-US" sz="2755" b="1" spc="-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ド体験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を、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Instagramで売る。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2755" b="1" spc="-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ギャルグッズ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を、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 Shopで世界に届</a:t>
            </a:r>
            <a:r>
              <a:rPr lang="en-US" sz="2755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ける。</a:t>
            </a:r>
            <a:endParaRPr lang="en-US" sz="2755" dirty="0"/>
          </a:p>
        </p:txBody>
      </p:sp>
      <p:sp>
        <p:nvSpPr>
          <p:cNvPr id="6" name="Text 3"/>
          <p:cNvSpPr/>
          <p:nvPr/>
        </p:nvSpPr>
        <p:spPr>
          <a:xfrm>
            <a:off x="457200" y="4112902"/>
            <a:ext cx="38576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7F789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つまり、</a:t>
            </a:r>
            <a:r>
              <a:rPr lang="en-US" sz="987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体験で熱量をつくり、物販で広げる</a:t>
            </a:r>
            <a:r>
              <a:rPr lang="en-US" sz="1050" dirty="0">
                <a:solidFill>
                  <a:srgbClr val="7F789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。この二軸を3</a:t>
            </a:r>
            <a:r>
              <a:rPr lang="en-US" sz="1050" dirty="0">
                <a:solidFill>
                  <a:srgbClr val="7F789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社分担で一気に立ち上げる共同事業である。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36610" y="1459781"/>
            <a:ext cx="3950187" cy="685800"/>
          </a:xfrm>
          <a:prstGeom prst="rect">
            <a:avLst/>
          </a:prstGeom>
          <a:solidFill>
            <a:srgbClr val="D84FA6">
              <a:alpha val="7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936610" y="1459781"/>
            <a:ext cx="3950187" cy="142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9" name="Shape 6"/>
          <p:cNvSpPr/>
          <p:nvPr/>
        </p:nvSpPr>
        <p:spPr>
          <a:xfrm>
            <a:off x="4936610" y="1459781"/>
            <a:ext cx="871538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801004" y="1459781"/>
            <a:ext cx="7144" cy="685800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1" name="Text 8"/>
          <p:cNvSpPr/>
          <p:nvPr/>
        </p:nvSpPr>
        <p:spPr>
          <a:xfrm>
            <a:off x="4936610" y="1459781"/>
            <a:ext cx="871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spc="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01 体験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5808148" y="1459781"/>
            <a:ext cx="3078649" cy="685800"/>
          </a:xfrm>
          <a:prstGeom prst="rect">
            <a:avLst/>
          </a:prstGeom>
          <a:noFill/>
          <a:ln/>
        </p:spPr>
        <p:txBody>
          <a:bodyPr wrap="square" lIns="153035" tIns="102108" rIns="153035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Instagram起点で、訪日外国人向けのギャル体験を販売する。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4936610" y="2231306"/>
            <a:ext cx="3950187" cy="685800"/>
          </a:xfrm>
          <a:prstGeom prst="rect">
            <a:avLst/>
          </a:prstGeom>
          <a:solidFill>
            <a:srgbClr val="D84FA6">
              <a:alpha val="7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936610" y="2231306"/>
            <a:ext cx="3950187" cy="142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5" name="Shape 12"/>
          <p:cNvSpPr/>
          <p:nvPr/>
        </p:nvSpPr>
        <p:spPr>
          <a:xfrm>
            <a:off x="4936610" y="2231306"/>
            <a:ext cx="871538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801004" y="2231306"/>
            <a:ext cx="7144" cy="685800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7" name="Text 14"/>
          <p:cNvSpPr/>
          <p:nvPr/>
        </p:nvSpPr>
        <p:spPr>
          <a:xfrm>
            <a:off x="4936610" y="2231306"/>
            <a:ext cx="871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spc="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02 物販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5808148" y="2231306"/>
            <a:ext cx="3078649" cy="685800"/>
          </a:xfrm>
          <a:prstGeom prst="rect">
            <a:avLst/>
          </a:prstGeom>
          <a:noFill/>
          <a:ln/>
        </p:spPr>
        <p:txBody>
          <a:bodyPr wrap="square" lIns="153035" tIns="102108" rIns="153035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 Shopで、ギャル協会公認グッズを海外ファンへ届ける。</a:t>
            </a:r>
            <a:endParaRPr lang="en-US" sz="1193" dirty="0"/>
          </a:p>
        </p:txBody>
      </p:sp>
      <p:sp>
        <p:nvSpPr>
          <p:cNvPr id="19" name="Shape 16"/>
          <p:cNvSpPr/>
          <p:nvPr/>
        </p:nvSpPr>
        <p:spPr>
          <a:xfrm>
            <a:off x="4936610" y="3002831"/>
            <a:ext cx="3950187" cy="845753"/>
          </a:xfrm>
          <a:prstGeom prst="rect">
            <a:avLst/>
          </a:prstGeom>
          <a:solidFill>
            <a:srgbClr val="D84FA6">
              <a:alpha val="7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936610" y="3002831"/>
            <a:ext cx="3950187" cy="142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1" name="Shape 18"/>
          <p:cNvSpPr/>
          <p:nvPr/>
        </p:nvSpPr>
        <p:spPr>
          <a:xfrm>
            <a:off x="4936610" y="3002831"/>
            <a:ext cx="871538" cy="8314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801004" y="3002831"/>
            <a:ext cx="7144" cy="831466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3" name="Text 20"/>
          <p:cNvSpPr/>
          <p:nvPr/>
        </p:nvSpPr>
        <p:spPr>
          <a:xfrm>
            <a:off x="4936610" y="3002831"/>
            <a:ext cx="871538" cy="831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spc="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03 体制</a:t>
            </a:r>
            <a:endParaRPr lang="en-US" sz="734" dirty="0"/>
          </a:p>
        </p:txBody>
      </p:sp>
      <p:sp>
        <p:nvSpPr>
          <p:cNvPr id="24" name="Text 21"/>
          <p:cNvSpPr/>
          <p:nvPr/>
        </p:nvSpPr>
        <p:spPr>
          <a:xfrm>
            <a:off x="5808148" y="3002831"/>
            <a:ext cx="3078649" cy="831466"/>
          </a:xfrm>
          <a:prstGeom prst="rect">
            <a:avLst/>
          </a:prstGeom>
          <a:noFill/>
          <a:ln/>
        </p:spPr>
        <p:txBody>
          <a:bodyPr wrap="square" lIns="153035" tIns="102108" rIns="153035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ギャル協会、サイバーバズ、ENTIALが役割分担し、短期間で事業化する。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57200" y="4784415"/>
            <a:ext cx="15001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PROOF POINT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1957388" y="4784415"/>
            <a:ext cx="6729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B658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先行事例の </a:t>
            </a:r>
            <a:r>
              <a:rPr lang="en-US" sz="987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@ppgalclub</a:t>
            </a:r>
            <a:r>
              <a:rPr lang="en-US" sz="1050" dirty="0">
                <a:solidFill>
                  <a:srgbClr val="6B658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 が反応を獲得、Rakuten Travel Experiencesにも掲載。つまり、</a:t>
            </a:r>
            <a:r>
              <a:rPr lang="en-US" sz="987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勝ち筋が見えて</a:t>
            </a:r>
            <a:r>
              <a:rPr lang="en-US" sz="987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いる領域</a:t>
            </a:r>
            <a:r>
              <a:rPr lang="en-US" sz="1050" dirty="0">
                <a:solidFill>
                  <a:srgbClr val="6B658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だ。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" y="200025"/>
            <a:ext cx="8515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TWO REVENUE ENGINES</a:t>
            </a:r>
            <a:endParaRPr lang="en-US" sz="634" dirty="0"/>
          </a:p>
        </p:txBody>
      </p:sp>
      <p:sp>
        <p:nvSpPr>
          <p:cNvPr id="4" name="Text 1"/>
          <p:cNvSpPr/>
          <p:nvPr/>
        </p:nvSpPr>
        <p:spPr>
          <a:xfrm>
            <a:off x="314325" y="396478"/>
            <a:ext cx="5109204" cy="504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収益源は2本柱。しかも、サイバーバズが伸ばし方を知っている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14325" y="958546"/>
            <a:ext cx="851535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この事業は、</a:t>
            </a:r>
            <a:r>
              <a:rPr lang="en-US" sz="8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Instagram起点の体験販売</a:t>
            </a: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と</a:t>
            </a:r>
            <a:r>
              <a:rPr lang="en-US" sz="8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TikTok起点のグッズ販売</a:t>
            </a: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を両輪で回す。さらに、サイバーバズの</a:t>
            </a: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立ち上げ知見</a:t>
            </a: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と</a:t>
            </a: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アルゴリズム分析</a:t>
            </a: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が初速をつく</a:t>
            </a:r>
            <a:r>
              <a:rPr lang="en-US" sz="8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る。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28613" y="1434275"/>
            <a:ext cx="22539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PILLAR 01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328613" y="1596796"/>
            <a:ext cx="2253993" cy="216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46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</a:t>
            </a:r>
            <a:r>
              <a:rPr lang="en-US" sz="1346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 × 体験販売</a:t>
            </a:r>
            <a:endParaRPr lang="en-US" sz="1346" dirty="0"/>
          </a:p>
        </p:txBody>
      </p:sp>
      <p:sp>
        <p:nvSpPr>
          <p:cNvPr id="8" name="Text 5"/>
          <p:cNvSpPr/>
          <p:nvPr/>
        </p:nvSpPr>
        <p:spPr>
          <a:xfrm>
            <a:off x="328613" y="1869960"/>
            <a:ext cx="225399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渋谷・ギャル文化・変身体験を、予約につながる投稿設計で売る。体験で高単価、UGCで再送客を生む。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328613" y="2393240"/>
            <a:ext cx="2253993" cy="330008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単価帯：</a:t>
            </a:r>
            <a:r>
              <a:rPr lang="en-US" sz="68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1.5万〜50万円</a:t>
            </a:r>
            <a:r>
              <a:rPr lang="en-US" sz="68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683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主対象：</a:t>
            </a:r>
            <a:r>
              <a:rPr lang="en-US" sz="68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訪日外国人・法人団体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654043" y="1434275"/>
            <a:ext cx="1932217" cy="1450181"/>
          </a:xfrm>
          <a:prstGeom prst="rect">
            <a:avLst/>
          </a:prstGeom>
          <a:solidFill>
            <a:srgbClr val="F3ECFF">
              <a:alpha val="1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654043" y="1434275"/>
            <a:ext cx="1932217" cy="142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2" name="Shape 9"/>
          <p:cNvSpPr/>
          <p:nvPr/>
        </p:nvSpPr>
        <p:spPr>
          <a:xfrm>
            <a:off x="2654043" y="1434275"/>
            <a:ext cx="1932217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654043" y="1655731"/>
            <a:ext cx="1932217" cy="7144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4" name="Text 11"/>
          <p:cNvSpPr/>
          <p:nvPr/>
        </p:nvSpPr>
        <p:spPr>
          <a:xfrm>
            <a:off x="2654043" y="1492318"/>
            <a:ext cx="442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IG</a:t>
            </a:r>
            <a:endParaRPr lang="en-US" sz="534" dirty="0"/>
          </a:p>
        </p:txBody>
      </p:sp>
      <p:sp>
        <p:nvSpPr>
          <p:cNvPr id="15" name="Text 12"/>
          <p:cNvSpPr/>
          <p:nvPr/>
        </p:nvSpPr>
        <p:spPr>
          <a:xfrm>
            <a:off x="3096955" y="1486960"/>
            <a:ext cx="10463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@gal_in_tokyo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4143347" y="1434275"/>
            <a:ext cx="4429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8A83A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SAVE / BOOK</a:t>
            </a:r>
            <a:endParaRPr lang="en-US" sz="534" dirty="0"/>
          </a:p>
        </p:txBody>
      </p:sp>
      <p:sp>
        <p:nvSpPr>
          <p:cNvPr id="17" name="Shape 14"/>
          <p:cNvSpPr/>
          <p:nvPr/>
        </p:nvSpPr>
        <p:spPr>
          <a:xfrm>
            <a:off x="2689761" y="1698594"/>
            <a:ext cx="908958" cy="285750"/>
          </a:xfrm>
          <a:prstGeom prst="rect">
            <a:avLst/>
          </a:prstGeom>
          <a:solidFill>
            <a:srgbClr val="FFF8FC">
              <a:alpha val="7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689761" y="1698594"/>
            <a:ext cx="908958" cy="14288"/>
          </a:xfrm>
          <a:prstGeom prst="rect">
            <a:avLst/>
          </a:prstGeom>
          <a:solidFill>
            <a:srgbClr val="E4D7F5"/>
          </a:solidFill>
          <a:ln/>
        </p:spPr>
      </p:sp>
      <p:sp>
        <p:nvSpPr>
          <p:cNvPr id="19" name="Text 16"/>
          <p:cNvSpPr/>
          <p:nvPr/>
        </p:nvSpPr>
        <p:spPr>
          <a:xfrm>
            <a:off x="2732624" y="1698594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渋谷フォト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2732624" y="1895047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Before / After</a:t>
            </a:r>
            <a:endParaRPr lang="en-US" sz="534" dirty="0"/>
          </a:p>
        </p:txBody>
      </p:sp>
      <p:sp>
        <p:nvSpPr>
          <p:cNvPr id="21" name="Shape 18"/>
          <p:cNvSpPr/>
          <p:nvPr/>
        </p:nvSpPr>
        <p:spPr>
          <a:xfrm>
            <a:off x="2689761" y="2012919"/>
            <a:ext cx="908958" cy="285750"/>
          </a:xfrm>
          <a:prstGeom prst="rect">
            <a:avLst/>
          </a:prstGeom>
          <a:solidFill>
            <a:srgbClr val="F9F7FF">
              <a:alpha val="7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689761" y="2012919"/>
            <a:ext cx="908958" cy="14288"/>
          </a:xfrm>
          <a:prstGeom prst="rect">
            <a:avLst/>
          </a:prstGeom>
          <a:solidFill>
            <a:srgbClr val="E4D7F5"/>
          </a:solidFill>
          <a:ln/>
        </p:spPr>
      </p:sp>
      <p:sp>
        <p:nvSpPr>
          <p:cNvPr id="23" name="Text 20"/>
          <p:cNvSpPr/>
          <p:nvPr/>
        </p:nvSpPr>
        <p:spPr>
          <a:xfrm>
            <a:off x="2732624" y="2012919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変身リール</a:t>
            </a:r>
            <a:endParaRPr lang="en-US" sz="534" dirty="0"/>
          </a:p>
        </p:txBody>
      </p:sp>
      <p:sp>
        <p:nvSpPr>
          <p:cNvPr id="24" name="Text 21"/>
          <p:cNvSpPr/>
          <p:nvPr/>
        </p:nvSpPr>
        <p:spPr>
          <a:xfrm>
            <a:off x="2732624" y="2209372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1日密着</a:t>
            </a:r>
            <a:endParaRPr lang="en-US" sz="534" dirty="0"/>
          </a:p>
        </p:txBody>
      </p:sp>
      <p:sp>
        <p:nvSpPr>
          <p:cNvPr id="25" name="Shape 22"/>
          <p:cNvSpPr/>
          <p:nvPr/>
        </p:nvSpPr>
        <p:spPr>
          <a:xfrm>
            <a:off x="2689761" y="2327244"/>
            <a:ext cx="908958" cy="285750"/>
          </a:xfrm>
          <a:prstGeom prst="rect">
            <a:avLst/>
          </a:prstGeom>
          <a:solidFill>
            <a:srgbClr val="FFF8FC">
              <a:alpha val="7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689761" y="2327244"/>
            <a:ext cx="908958" cy="14288"/>
          </a:xfrm>
          <a:prstGeom prst="rect">
            <a:avLst/>
          </a:prstGeom>
          <a:solidFill>
            <a:srgbClr val="E4D7F5"/>
          </a:solidFill>
          <a:ln/>
        </p:spPr>
      </p:sp>
      <p:sp>
        <p:nvSpPr>
          <p:cNvPr id="27" name="Text 24"/>
          <p:cNvSpPr/>
          <p:nvPr/>
        </p:nvSpPr>
        <p:spPr>
          <a:xfrm>
            <a:off x="2732624" y="2327244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夜遊びツアー</a:t>
            </a:r>
            <a:endParaRPr lang="en-US" sz="534" dirty="0"/>
          </a:p>
        </p:txBody>
      </p:sp>
      <p:sp>
        <p:nvSpPr>
          <p:cNvPr id="28" name="Text 25"/>
          <p:cNvSpPr/>
          <p:nvPr/>
        </p:nvSpPr>
        <p:spPr>
          <a:xfrm>
            <a:off x="2732624" y="2523697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UGCまとめ</a:t>
            </a:r>
            <a:endParaRPr lang="en-US" sz="534" dirty="0"/>
          </a:p>
        </p:txBody>
      </p:sp>
      <p:sp>
        <p:nvSpPr>
          <p:cNvPr id="29" name="Text 26"/>
          <p:cNvSpPr/>
          <p:nvPr/>
        </p:nvSpPr>
        <p:spPr>
          <a:xfrm>
            <a:off x="3677301" y="1741456"/>
            <a:ext cx="837521" cy="903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投稿設計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3677301" y="1860389"/>
            <a:ext cx="837521" cy="201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世界観を見せ、予約導線へ送客。</a:t>
            </a:r>
            <a:endParaRPr lang="en-US" sz="534" dirty="0"/>
          </a:p>
        </p:txBody>
      </p:sp>
      <p:sp>
        <p:nvSpPr>
          <p:cNvPr id="31" name="Text 28"/>
          <p:cNvSpPr/>
          <p:nvPr/>
        </p:nvSpPr>
        <p:spPr>
          <a:xfrm>
            <a:off x="3677301" y="2170081"/>
            <a:ext cx="837521" cy="903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アカウント像</a:t>
            </a:r>
            <a:endParaRPr lang="en-US" sz="534" dirty="0"/>
          </a:p>
        </p:txBody>
      </p:sp>
      <p:sp>
        <p:nvSpPr>
          <p:cNvPr id="32" name="Text 29"/>
          <p:cNvSpPr/>
          <p:nvPr/>
        </p:nvSpPr>
        <p:spPr>
          <a:xfrm>
            <a:off x="3677301" y="2289014"/>
            <a:ext cx="837521" cy="301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保存され、来日時に予約される旅前メディア。</a:t>
            </a:r>
            <a:endParaRPr lang="en-US" sz="534" dirty="0"/>
          </a:p>
        </p:txBody>
      </p:sp>
      <p:sp>
        <p:nvSpPr>
          <p:cNvPr id="33" name="Shape 30"/>
          <p:cNvSpPr/>
          <p:nvPr/>
        </p:nvSpPr>
        <p:spPr>
          <a:xfrm>
            <a:off x="2654043" y="2612994"/>
            <a:ext cx="1932217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2654043" y="2612994"/>
            <a:ext cx="1932217" cy="7144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35" name="Text 32"/>
          <p:cNvSpPr/>
          <p:nvPr/>
        </p:nvSpPr>
        <p:spPr>
          <a:xfrm>
            <a:off x="2819800" y="2646397"/>
            <a:ext cx="30539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85" b="1" dirty="0">
                <a:solidFill>
                  <a:srgbClr val="8B84A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FORMAT</a:t>
            </a:r>
            <a:endParaRPr lang="en-US" sz="485" dirty="0"/>
          </a:p>
        </p:txBody>
      </p:sp>
      <p:sp>
        <p:nvSpPr>
          <p:cNvPr id="36" name="Text 33"/>
          <p:cNvSpPr/>
          <p:nvPr/>
        </p:nvSpPr>
        <p:spPr>
          <a:xfrm>
            <a:off x="2849268" y="2739265"/>
            <a:ext cx="246459" cy="975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Reels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3546900" y="2646397"/>
            <a:ext cx="13930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85" b="1" dirty="0">
                <a:solidFill>
                  <a:srgbClr val="8B84A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CTA</a:t>
            </a:r>
            <a:endParaRPr lang="en-US" sz="485" dirty="0"/>
          </a:p>
        </p:txBody>
      </p:sp>
      <p:sp>
        <p:nvSpPr>
          <p:cNvPr id="38" name="Text 35"/>
          <p:cNvSpPr/>
          <p:nvPr/>
        </p:nvSpPr>
        <p:spPr>
          <a:xfrm>
            <a:off x="3504930" y="2739265"/>
            <a:ext cx="223242" cy="975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Book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4162406" y="2646397"/>
            <a:ext cx="203597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85" b="1" dirty="0">
                <a:solidFill>
                  <a:srgbClr val="8B84A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GOAL</a:t>
            </a:r>
            <a:endParaRPr lang="en-US" sz="485" dirty="0"/>
          </a:p>
        </p:txBody>
      </p:sp>
      <p:sp>
        <p:nvSpPr>
          <p:cNvPr id="40" name="Text 37"/>
          <p:cNvSpPr/>
          <p:nvPr/>
        </p:nvSpPr>
        <p:spPr>
          <a:xfrm>
            <a:off x="4168657" y="2739265"/>
            <a:ext cx="191095" cy="975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UGC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4643438" y="1434275"/>
            <a:ext cx="22539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PILLAR 02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4643438" y="1596796"/>
            <a:ext cx="2253993" cy="216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46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</a:t>
            </a:r>
            <a:r>
              <a:rPr lang="en-US" sz="1346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 × グッズ販売</a:t>
            </a:r>
            <a:endParaRPr lang="en-US" sz="1346" dirty="0"/>
          </a:p>
        </p:txBody>
      </p:sp>
      <p:sp>
        <p:nvSpPr>
          <p:cNvPr id="43" name="Text 40"/>
          <p:cNvSpPr/>
          <p:nvPr/>
        </p:nvSpPr>
        <p:spPr>
          <a:xfrm>
            <a:off x="4643438" y="1869960"/>
            <a:ext cx="225399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動画で沸かせて、そのまま買わせる。熱量が高いままTikTok ShopとWESELLへつなぐ。</a:t>
            </a:r>
            <a:endParaRPr lang="en-US" sz="734" dirty="0"/>
          </a:p>
        </p:txBody>
      </p:sp>
      <p:sp>
        <p:nvSpPr>
          <p:cNvPr id="44" name="Text 41"/>
          <p:cNvSpPr/>
          <p:nvPr/>
        </p:nvSpPr>
        <p:spPr>
          <a:xfrm>
            <a:off x="4643438" y="2237863"/>
            <a:ext cx="2253993" cy="330008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単価帯：</a:t>
            </a:r>
            <a:r>
              <a:rPr lang="en-US" sz="68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2,000〜30,000円</a:t>
            </a:r>
            <a:r>
              <a:rPr lang="en-US" sz="68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683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主対象：</a:t>
            </a:r>
            <a:r>
              <a:rPr lang="en-US" sz="68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海外在住ファン・訪日客</a:t>
            </a:r>
            <a:endParaRPr lang="en-US" sz="683" dirty="0"/>
          </a:p>
        </p:txBody>
      </p:sp>
      <p:sp>
        <p:nvSpPr>
          <p:cNvPr id="45" name="Shape 42"/>
          <p:cNvSpPr/>
          <p:nvPr/>
        </p:nvSpPr>
        <p:spPr>
          <a:xfrm>
            <a:off x="6968868" y="1434275"/>
            <a:ext cx="1932217" cy="1450181"/>
          </a:xfrm>
          <a:prstGeom prst="rect">
            <a:avLst/>
          </a:prstGeom>
          <a:solidFill>
            <a:srgbClr val="F5EDFF">
              <a:alpha val="22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968868" y="1434275"/>
            <a:ext cx="1932217" cy="142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47" name="Shape 44"/>
          <p:cNvSpPr/>
          <p:nvPr/>
        </p:nvSpPr>
        <p:spPr>
          <a:xfrm>
            <a:off x="6968868" y="1434275"/>
            <a:ext cx="1932217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968868" y="1655731"/>
            <a:ext cx="1932217" cy="7144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49" name="Text 46"/>
          <p:cNvSpPr/>
          <p:nvPr/>
        </p:nvSpPr>
        <p:spPr>
          <a:xfrm>
            <a:off x="6968868" y="1492318"/>
            <a:ext cx="4429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</a:t>
            </a:r>
            <a:endParaRPr lang="en-US" sz="534" dirty="0"/>
          </a:p>
        </p:txBody>
      </p:sp>
      <p:sp>
        <p:nvSpPr>
          <p:cNvPr id="50" name="Text 47"/>
          <p:cNvSpPr/>
          <p:nvPr/>
        </p:nvSpPr>
        <p:spPr>
          <a:xfrm>
            <a:off x="7411780" y="1486960"/>
            <a:ext cx="10463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@gal_pick_jp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8458172" y="1434275"/>
            <a:ext cx="4429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8A83A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WATCH / SHOP</a:t>
            </a:r>
            <a:endParaRPr lang="en-US" sz="534" dirty="0"/>
          </a:p>
        </p:txBody>
      </p:sp>
      <p:sp>
        <p:nvSpPr>
          <p:cNvPr id="52" name="Shape 49"/>
          <p:cNvSpPr/>
          <p:nvPr/>
        </p:nvSpPr>
        <p:spPr>
          <a:xfrm>
            <a:off x="7004586" y="1698594"/>
            <a:ext cx="908958" cy="285750"/>
          </a:xfrm>
          <a:prstGeom prst="rect">
            <a:avLst/>
          </a:prstGeom>
          <a:solidFill>
            <a:srgbClr val="F5FAFF">
              <a:alpha val="72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004586" y="1698594"/>
            <a:ext cx="908958" cy="14288"/>
          </a:xfrm>
          <a:prstGeom prst="rect">
            <a:avLst/>
          </a:prstGeom>
          <a:solidFill>
            <a:srgbClr val="E4D7F5"/>
          </a:solidFill>
          <a:ln/>
        </p:spPr>
      </p:sp>
      <p:sp>
        <p:nvSpPr>
          <p:cNvPr id="54" name="Text 51"/>
          <p:cNvSpPr/>
          <p:nvPr/>
        </p:nvSpPr>
        <p:spPr>
          <a:xfrm>
            <a:off x="7047449" y="1698594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メイクSET</a:t>
            </a:r>
            <a:endParaRPr lang="en-US" sz="534" dirty="0"/>
          </a:p>
        </p:txBody>
      </p:sp>
      <p:sp>
        <p:nvSpPr>
          <p:cNvPr id="55" name="Text 52"/>
          <p:cNvSpPr/>
          <p:nvPr/>
        </p:nvSpPr>
        <p:spPr>
          <a:xfrm>
            <a:off x="7047449" y="1895047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使用感レビュー</a:t>
            </a:r>
            <a:endParaRPr lang="en-US" sz="534" dirty="0"/>
          </a:p>
        </p:txBody>
      </p:sp>
      <p:sp>
        <p:nvSpPr>
          <p:cNvPr id="56" name="Shape 53"/>
          <p:cNvSpPr/>
          <p:nvPr/>
        </p:nvSpPr>
        <p:spPr>
          <a:xfrm>
            <a:off x="7004586" y="2012919"/>
            <a:ext cx="908958" cy="285750"/>
          </a:xfrm>
          <a:prstGeom prst="rect">
            <a:avLst/>
          </a:prstGeom>
          <a:solidFill>
            <a:srgbClr val="F9F7FF">
              <a:alpha val="75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004586" y="2012919"/>
            <a:ext cx="908958" cy="14288"/>
          </a:xfrm>
          <a:prstGeom prst="rect">
            <a:avLst/>
          </a:prstGeom>
          <a:solidFill>
            <a:srgbClr val="E4D7F5"/>
          </a:solidFill>
          <a:ln/>
        </p:spPr>
      </p:sp>
      <p:sp>
        <p:nvSpPr>
          <p:cNvPr id="58" name="Text 55"/>
          <p:cNvSpPr/>
          <p:nvPr/>
        </p:nvSpPr>
        <p:spPr>
          <a:xfrm>
            <a:off x="7047449" y="2012919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限定アパレル</a:t>
            </a:r>
            <a:endParaRPr lang="en-US" sz="534" dirty="0"/>
          </a:p>
        </p:txBody>
      </p:sp>
      <p:sp>
        <p:nvSpPr>
          <p:cNvPr id="59" name="Text 56"/>
          <p:cNvSpPr/>
          <p:nvPr/>
        </p:nvSpPr>
        <p:spPr>
          <a:xfrm>
            <a:off x="7047449" y="2209372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コメント比較</a:t>
            </a:r>
            <a:endParaRPr lang="en-US" sz="534" dirty="0"/>
          </a:p>
        </p:txBody>
      </p:sp>
      <p:sp>
        <p:nvSpPr>
          <p:cNvPr id="60" name="Shape 57"/>
          <p:cNvSpPr/>
          <p:nvPr/>
        </p:nvSpPr>
        <p:spPr>
          <a:xfrm>
            <a:off x="7004586" y="2327244"/>
            <a:ext cx="908958" cy="285750"/>
          </a:xfrm>
          <a:prstGeom prst="rect">
            <a:avLst/>
          </a:prstGeom>
          <a:solidFill>
            <a:srgbClr val="F5FAFF">
              <a:alpha val="72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004586" y="2327244"/>
            <a:ext cx="908958" cy="14288"/>
          </a:xfrm>
          <a:prstGeom prst="rect">
            <a:avLst/>
          </a:prstGeom>
          <a:solidFill>
            <a:srgbClr val="E4D7F5"/>
          </a:solidFill>
          <a:ln/>
        </p:spPr>
      </p:sp>
      <p:sp>
        <p:nvSpPr>
          <p:cNvPr id="62" name="Text 59"/>
          <p:cNvSpPr/>
          <p:nvPr/>
        </p:nvSpPr>
        <p:spPr>
          <a:xfrm>
            <a:off x="7047449" y="2327244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グッズ紹介</a:t>
            </a:r>
            <a:endParaRPr lang="en-US" sz="534" dirty="0"/>
          </a:p>
        </p:txBody>
      </p:sp>
      <p:sp>
        <p:nvSpPr>
          <p:cNvPr id="63" name="Text 60"/>
          <p:cNvSpPr/>
          <p:nvPr/>
        </p:nvSpPr>
        <p:spPr>
          <a:xfrm>
            <a:off x="7047449" y="2523697"/>
            <a:ext cx="8232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その場で購入</a:t>
            </a:r>
            <a:endParaRPr lang="en-US" sz="534" dirty="0"/>
          </a:p>
        </p:txBody>
      </p:sp>
      <p:sp>
        <p:nvSpPr>
          <p:cNvPr id="64" name="Text 61"/>
          <p:cNvSpPr/>
          <p:nvPr/>
        </p:nvSpPr>
        <p:spPr>
          <a:xfrm>
            <a:off x="7992126" y="1741456"/>
            <a:ext cx="837521" cy="903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投稿設計</a:t>
            </a:r>
            <a:endParaRPr lang="en-US" sz="534" dirty="0"/>
          </a:p>
        </p:txBody>
      </p:sp>
      <p:sp>
        <p:nvSpPr>
          <p:cNvPr id="65" name="Text 62"/>
          <p:cNvSpPr/>
          <p:nvPr/>
        </p:nvSpPr>
        <p:spPr>
          <a:xfrm>
            <a:off x="7992126" y="1860389"/>
            <a:ext cx="837521" cy="201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冒頭3秒で惹きつけ、商品導線でCV。</a:t>
            </a:r>
            <a:endParaRPr lang="en-US" sz="534" dirty="0"/>
          </a:p>
        </p:txBody>
      </p:sp>
      <p:sp>
        <p:nvSpPr>
          <p:cNvPr id="66" name="Text 63"/>
          <p:cNvSpPr/>
          <p:nvPr/>
        </p:nvSpPr>
        <p:spPr>
          <a:xfrm>
            <a:off x="7992126" y="2170081"/>
            <a:ext cx="837521" cy="903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アカウント像</a:t>
            </a:r>
            <a:endParaRPr lang="en-US" sz="534" dirty="0"/>
          </a:p>
        </p:txBody>
      </p:sp>
      <p:sp>
        <p:nvSpPr>
          <p:cNvPr id="67" name="Text 64"/>
          <p:cNvSpPr/>
          <p:nvPr/>
        </p:nvSpPr>
        <p:spPr>
          <a:xfrm>
            <a:off x="7992126" y="2289014"/>
            <a:ext cx="837521" cy="301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拡散とショップ導線が同居する買えるメディア。</a:t>
            </a:r>
            <a:endParaRPr lang="en-US" sz="534" dirty="0"/>
          </a:p>
        </p:txBody>
      </p:sp>
      <p:sp>
        <p:nvSpPr>
          <p:cNvPr id="68" name="Shape 65"/>
          <p:cNvSpPr/>
          <p:nvPr/>
        </p:nvSpPr>
        <p:spPr>
          <a:xfrm>
            <a:off x="6968868" y="2612994"/>
            <a:ext cx="1932217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6968868" y="2612994"/>
            <a:ext cx="1932217" cy="7144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70" name="Text 67"/>
          <p:cNvSpPr/>
          <p:nvPr/>
        </p:nvSpPr>
        <p:spPr>
          <a:xfrm>
            <a:off x="7134625" y="2646397"/>
            <a:ext cx="30539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85" b="1" dirty="0">
                <a:solidFill>
                  <a:srgbClr val="8B84A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FORMAT</a:t>
            </a:r>
            <a:endParaRPr lang="en-US" sz="485" dirty="0"/>
          </a:p>
        </p:txBody>
      </p:sp>
      <p:sp>
        <p:nvSpPr>
          <p:cNvPr id="71" name="Text 68"/>
          <p:cNvSpPr/>
          <p:nvPr/>
        </p:nvSpPr>
        <p:spPr>
          <a:xfrm>
            <a:off x="7131946" y="2739265"/>
            <a:ext cx="310753" cy="975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Shorts</a:t>
            </a:r>
            <a:endParaRPr lang="en-US" sz="634" dirty="0"/>
          </a:p>
        </p:txBody>
      </p:sp>
      <p:sp>
        <p:nvSpPr>
          <p:cNvPr id="72" name="Text 69"/>
          <p:cNvSpPr/>
          <p:nvPr/>
        </p:nvSpPr>
        <p:spPr>
          <a:xfrm>
            <a:off x="7861725" y="2646397"/>
            <a:ext cx="13930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85" b="1" dirty="0">
                <a:solidFill>
                  <a:srgbClr val="8B84A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CTA</a:t>
            </a:r>
            <a:endParaRPr lang="en-US" sz="485" dirty="0"/>
          </a:p>
        </p:txBody>
      </p:sp>
      <p:sp>
        <p:nvSpPr>
          <p:cNvPr id="73" name="Text 70"/>
          <p:cNvSpPr/>
          <p:nvPr/>
        </p:nvSpPr>
        <p:spPr>
          <a:xfrm>
            <a:off x="7819755" y="2739265"/>
            <a:ext cx="223242" cy="975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Shop</a:t>
            </a:r>
            <a:endParaRPr lang="en-US" sz="634" dirty="0"/>
          </a:p>
        </p:txBody>
      </p:sp>
      <p:sp>
        <p:nvSpPr>
          <p:cNvPr id="74" name="Text 71"/>
          <p:cNvSpPr/>
          <p:nvPr/>
        </p:nvSpPr>
        <p:spPr>
          <a:xfrm>
            <a:off x="8477231" y="2646397"/>
            <a:ext cx="203597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85" b="1" dirty="0">
                <a:solidFill>
                  <a:srgbClr val="8B84A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GOAL</a:t>
            </a:r>
            <a:endParaRPr lang="en-US" sz="485" dirty="0"/>
          </a:p>
        </p:txBody>
      </p:sp>
      <p:sp>
        <p:nvSpPr>
          <p:cNvPr id="75" name="Text 72"/>
          <p:cNvSpPr/>
          <p:nvPr/>
        </p:nvSpPr>
        <p:spPr>
          <a:xfrm>
            <a:off x="8495984" y="2739265"/>
            <a:ext cx="166092" cy="975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LTV</a:t>
            </a:r>
            <a:endParaRPr lang="en-US" sz="634" dirty="0"/>
          </a:p>
        </p:txBody>
      </p:sp>
      <p:sp>
        <p:nvSpPr>
          <p:cNvPr id="76" name="Shape 73"/>
          <p:cNvSpPr/>
          <p:nvPr/>
        </p:nvSpPr>
        <p:spPr>
          <a:xfrm>
            <a:off x="314325" y="3798856"/>
            <a:ext cx="8515350" cy="585788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314325" y="3798856"/>
            <a:ext cx="8515350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78" name="Text 75"/>
          <p:cNvSpPr/>
          <p:nvPr/>
        </p:nvSpPr>
        <p:spPr>
          <a:xfrm>
            <a:off x="371475" y="3856006"/>
            <a:ext cx="1300163" cy="98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WHY CYBERBUZZ</a:t>
            </a:r>
            <a:endParaRPr lang="en-US" sz="584" dirty="0"/>
          </a:p>
        </p:txBody>
      </p:sp>
      <p:sp>
        <p:nvSpPr>
          <p:cNvPr id="79" name="Text 76"/>
          <p:cNvSpPr/>
          <p:nvPr/>
        </p:nvSpPr>
        <p:spPr>
          <a:xfrm>
            <a:off x="371475" y="3990287"/>
            <a:ext cx="1300163" cy="354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38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初速をつくれる理由</a:t>
            </a:r>
            <a:endParaRPr lang="en-US" sz="1038" dirty="0"/>
          </a:p>
        </p:txBody>
      </p:sp>
      <p:sp>
        <p:nvSpPr>
          <p:cNvPr id="80" name="Shape 77"/>
          <p:cNvSpPr/>
          <p:nvPr/>
        </p:nvSpPr>
        <p:spPr>
          <a:xfrm>
            <a:off x="1743075" y="3798856"/>
            <a:ext cx="2362181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1743075" y="3798856"/>
            <a:ext cx="7144" cy="5857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82" name="Text 79"/>
          <p:cNvSpPr/>
          <p:nvPr/>
        </p:nvSpPr>
        <p:spPr>
          <a:xfrm>
            <a:off x="1814513" y="3856006"/>
            <a:ext cx="2219306" cy="109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立ち上げナレッジ</a:t>
            </a:r>
            <a:endParaRPr lang="en-US" sz="634" dirty="0"/>
          </a:p>
        </p:txBody>
      </p:sp>
      <p:sp>
        <p:nvSpPr>
          <p:cNvPr id="83" name="Text 80"/>
          <p:cNvSpPr/>
          <p:nvPr/>
        </p:nvSpPr>
        <p:spPr>
          <a:xfrm>
            <a:off x="1814513" y="3994166"/>
            <a:ext cx="2219306" cy="22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2018年から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公式SNS支援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を継続。作成から投稿・効果検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証まで一気通貫。</a:t>
            </a:r>
            <a:endParaRPr lang="en-US" sz="584" dirty="0"/>
          </a:p>
        </p:txBody>
      </p:sp>
      <p:sp>
        <p:nvSpPr>
          <p:cNvPr id="84" name="Shape 81"/>
          <p:cNvSpPr/>
          <p:nvPr/>
        </p:nvSpPr>
        <p:spPr>
          <a:xfrm>
            <a:off x="4105256" y="3798856"/>
            <a:ext cx="2362209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5" name="Shape 82"/>
          <p:cNvSpPr/>
          <p:nvPr/>
        </p:nvSpPr>
        <p:spPr>
          <a:xfrm>
            <a:off x="4105256" y="3798856"/>
            <a:ext cx="7144" cy="5857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86" name="Text 83"/>
          <p:cNvSpPr/>
          <p:nvPr/>
        </p:nvSpPr>
        <p:spPr>
          <a:xfrm>
            <a:off x="4176694" y="3856006"/>
            <a:ext cx="2219334" cy="109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アルゴリズム分析</a:t>
            </a:r>
            <a:endParaRPr lang="en-US" sz="634" dirty="0"/>
          </a:p>
        </p:txBody>
      </p:sp>
      <p:sp>
        <p:nvSpPr>
          <p:cNvPr id="87" name="Text 84"/>
          <p:cNvSpPr/>
          <p:nvPr/>
        </p:nvSpPr>
        <p:spPr>
          <a:xfrm>
            <a:off x="4176694" y="3994166"/>
            <a:ext cx="2219334" cy="22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各SNSの挙動を大量検証し、</a:t>
            </a:r>
            <a:r>
              <a:rPr lang="en-US" sz="584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分析結果を企画に反映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でき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る。</a:t>
            </a:r>
            <a:endParaRPr lang="en-US" sz="584" dirty="0"/>
          </a:p>
        </p:txBody>
      </p:sp>
      <p:sp>
        <p:nvSpPr>
          <p:cNvPr id="88" name="Shape 85"/>
          <p:cNvSpPr/>
          <p:nvPr/>
        </p:nvSpPr>
        <p:spPr>
          <a:xfrm>
            <a:off x="6467466" y="3798856"/>
            <a:ext cx="2362181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9" name="Shape 86"/>
          <p:cNvSpPr/>
          <p:nvPr/>
        </p:nvSpPr>
        <p:spPr>
          <a:xfrm>
            <a:off x="6467466" y="3798856"/>
            <a:ext cx="7144" cy="585788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90" name="Text 87"/>
          <p:cNvSpPr/>
          <p:nvPr/>
        </p:nvSpPr>
        <p:spPr>
          <a:xfrm>
            <a:off x="6538903" y="3856006"/>
            <a:ext cx="2219306" cy="109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公開実績</a:t>
            </a:r>
            <a:endParaRPr lang="en-US" sz="634" dirty="0"/>
          </a:p>
        </p:txBody>
      </p:sp>
      <p:sp>
        <p:nvSpPr>
          <p:cNvPr id="91" name="Text 88"/>
          <p:cNvSpPr/>
          <p:nvPr/>
        </p:nvSpPr>
        <p:spPr>
          <a:xfrm>
            <a:off x="6538903" y="3994166"/>
            <a:ext cx="2219306" cy="22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to buy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 はTikTok累計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5億回再生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・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100ブランド超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。トラ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イG支援では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問い合わせ増</a:t>
            </a:r>
            <a:r>
              <a:rPr lang="en-US" sz="584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の公開評価。</a:t>
            </a:r>
            <a:endParaRPr lang="en-US" sz="584" dirty="0"/>
          </a:p>
        </p:txBody>
      </p:sp>
      <p:sp>
        <p:nvSpPr>
          <p:cNvPr id="92" name="Text 89"/>
          <p:cNvSpPr/>
          <p:nvPr/>
        </p:nvSpPr>
        <p:spPr>
          <a:xfrm>
            <a:off x="314325" y="4413219"/>
            <a:ext cx="8515350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A94B0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出所：サイバー・バズ公式サービスページ、2024年7月18日付ニュース、トライグループ公開対談記事。</a:t>
            </a:r>
            <a:endParaRPr lang="en-US" sz="4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285750"/>
            <a:ext cx="83153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ROLE DESIGN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414338" y="533995"/>
            <a:ext cx="5654418" cy="291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それぞれが得意なことだけに集中できる設計です</a:t>
            </a:r>
            <a:endParaRPr lang="en-US" sz="1705" dirty="0"/>
          </a:p>
        </p:txBody>
      </p:sp>
      <p:sp>
        <p:nvSpPr>
          <p:cNvPr id="5" name="Shape 2"/>
          <p:cNvSpPr/>
          <p:nvPr/>
        </p:nvSpPr>
        <p:spPr>
          <a:xfrm>
            <a:off x="414338" y="1025463"/>
            <a:ext cx="2686050" cy="3128963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14338" y="1025463"/>
            <a:ext cx="2686050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7" name="Text 4"/>
          <p:cNvSpPr/>
          <p:nvPr/>
        </p:nvSpPr>
        <p:spPr>
          <a:xfrm>
            <a:off x="542925" y="1139763"/>
            <a:ext cx="10001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42925" y="1446944"/>
            <a:ext cx="2428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8B84A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うさたにパイセン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42925" y="1796988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ROLE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42925" y="1993441"/>
            <a:ext cx="24288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IPオーナー・コンテンツクリエイター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42925" y="2590614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2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SCOPE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542925" y="2787067"/>
            <a:ext cx="2428875" cy="67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体験ツアー出演・監修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グッズ企画・監修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世界観づくりとコンテンツ創出</a:t>
            </a:r>
            <a:endParaRPr lang="en-US" sz="996" dirty="0"/>
          </a:p>
        </p:txBody>
      </p:sp>
      <p:sp>
        <p:nvSpPr>
          <p:cNvPr id="13" name="Shape 10"/>
          <p:cNvSpPr/>
          <p:nvPr/>
        </p:nvSpPr>
        <p:spPr>
          <a:xfrm>
            <a:off x="542925" y="3601762"/>
            <a:ext cx="2428875" cy="32001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42925" y="3601762"/>
            <a:ext cx="2428875" cy="14288"/>
          </a:xfrm>
          <a:prstGeom prst="rect">
            <a:avLst/>
          </a:prstGeom>
          <a:solidFill>
            <a:srgbClr val="EFE3F7"/>
          </a:solidFill>
          <a:ln/>
        </p:spPr>
      </p:sp>
      <p:sp>
        <p:nvSpPr>
          <p:cNvPr id="15" name="Text 12"/>
          <p:cNvSpPr/>
          <p:nvPr/>
        </p:nvSpPr>
        <p:spPr>
          <a:xfrm>
            <a:off x="542925" y="3601762"/>
            <a:ext cx="2428875" cy="320018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6A6482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ひと言：</a:t>
            </a: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世界観をつくることに集中。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3228975" y="1025463"/>
            <a:ext cx="2686050" cy="3128963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228975" y="1025463"/>
            <a:ext cx="2686050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8" name="Text 15"/>
          <p:cNvSpPr/>
          <p:nvPr/>
        </p:nvSpPr>
        <p:spPr>
          <a:xfrm>
            <a:off x="3357563" y="1154050"/>
            <a:ext cx="2428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サイバーバズ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3357563" y="1796988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ROLE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3357563" y="1993441"/>
            <a:ext cx="242887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メディアオーナー・資金提供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3357563" y="2370609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2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SCOPE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3357563" y="2567062"/>
            <a:ext cx="2428875" cy="67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Instagram・TikTok運営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WESELL運用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制作費・運営費の負担</a:t>
            </a:r>
            <a:endParaRPr lang="en-US" sz="996" dirty="0"/>
          </a:p>
        </p:txBody>
      </p:sp>
      <p:sp>
        <p:nvSpPr>
          <p:cNvPr id="23" name="Shape 20"/>
          <p:cNvSpPr/>
          <p:nvPr/>
        </p:nvSpPr>
        <p:spPr>
          <a:xfrm>
            <a:off x="3357563" y="3381756"/>
            <a:ext cx="2428875" cy="52573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3357563" y="3381756"/>
            <a:ext cx="2428875" cy="14288"/>
          </a:xfrm>
          <a:prstGeom prst="rect">
            <a:avLst/>
          </a:prstGeom>
          <a:solidFill>
            <a:srgbClr val="EFE3F7"/>
          </a:solidFill>
          <a:ln/>
        </p:spPr>
      </p:sp>
      <p:sp>
        <p:nvSpPr>
          <p:cNvPr id="25" name="Text 22"/>
          <p:cNvSpPr/>
          <p:nvPr/>
        </p:nvSpPr>
        <p:spPr>
          <a:xfrm>
            <a:off x="3357563" y="3381756"/>
            <a:ext cx="2428875" cy="525735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6A6482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ひと言：</a:t>
            </a: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メディア運営とデジタル販促に</a:t>
            </a: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集中。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6043613" y="1025463"/>
            <a:ext cx="2686050" cy="3128963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043613" y="1025463"/>
            <a:ext cx="2686050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1154050"/>
            <a:ext cx="2428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</a:t>
            </a:r>
            <a:endParaRPr lang="en-US" sz="1397" dirty="0"/>
          </a:p>
        </p:txBody>
      </p:sp>
      <p:sp>
        <p:nvSpPr>
          <p:cNvPr id="29" name="Text 26"/>
          <p:cNvSpPr/>
          <p:nvPr/>
        </p:nvSpPr>
        <p:spPr>
          <a:xfrm>
            <a:off x="6172200" y="1796988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ROLE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6172200" y="1993441"/>
            <a:ext cx="242887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社内PM・営業・オペ統括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172200" y="2370609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2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SCOPE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6172200" y="2567062"/>
            <a:ext cx="2428875" cy="67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OTA掲載・集客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物流・CS・法人営業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996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3社進行のPMと現場実務</a:t>
            </a:r>
            <a:endParaRPr lang="en-US" sz="996" dirty="0"/>
          </a:p>
        </p:txBody>
      </p:sp>
      <p:sp>
        <p:nvSpPr>
          <p:cNvPr id="33" name="Shape 30"/>
          <p:cNvSpPr/>
          <p:nvPr/>
        </p:nvSpPr>
        <p:spPr>
          <a:xfrm>
            <a:off x="6172200" y="3381756"/>
            <a:ext cx="2428875" cy="52573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172200" y="3381756"/>
            <a:ext cx="2428875" cy="14288"/>
          </a:xfrm>
          <a:prstGeom prst="rect">
            <a:avLst/>
          </a:prstGeom>
          <a:solidFill>
            <a:srgbClr val="EFE3F7"/>
          </a:solidFill>
          <a:ln/>
        </p:spPr>
      </p:sp>
      <p:sp>
        <p:nvSpPr>
          <p:cNvPr id="35" name="Text 32"/>
          <p:cNvSpPr/>
          <p:nvPr/>
        </p:nvSpPr>
        <p:spPr>
          <a:xfrm>
            <a:off x="6172200" y="3381756"/>
            <a:ext cx="2428875" cy="525735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6A6482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ひと言：</a:t>
            </a: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“人の手”が必要な部分を全部巻</a:t>
            </a: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き取る。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414338" y="4440175"/>
            <a:ext cx="15001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TAKEAWAY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1914525" y="4440175"/>
            <a:ext cx="6815138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ギャル協会は</a:t>
            </a: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魅力をつくる</a:t>
            </a: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、サイバーバズは</a:t>
            </a: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広げる</a:t>
            </a: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、ENTIALは</a:t>
            </a: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回す</a:t>
            </a: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。</a:t>
            </a: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役割が重ならないから、意思決定も立ち上がりも速い。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271463"/>
            <a:ext cx="83724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 EXPERIENCE FLOW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385763" y="505420"/>
            <a:ext cx="5190911" cy="55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53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体験販売の流れ：コンテンツ → 集客 → 予約 → リピート</a:t>
            </a:r>
            <a:endParaRPr lang="en-US" sz="1653" dirty="0"/>
          </a:p>
        </p:txBody>
      </p:sp>
      <p:sp>
        <p:nvSpPr>
          <p:cNvPr id="5" name="Text 2"/>
          <p:cNvSpPr/>
          <p:nvPr/>
        </p:nvSpPr>
        <p:spPr>
          <a:xfrm>
            <a:off x="385763" y="1161752"/>
            <a:ext cx="8372475" cy="22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Instagramは、</a:t>
            </a:r>
            <a:r>
              <a:rPr lang="en-US" sz="1038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世界観を見せる場所</a:t>
            </a: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であると同時に、</a:t>
            </a:r>
            <a:r>
              <a:rPr lang="en-US" sz="1038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体験予約の入口</a:t>
            </a: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でもある。投稿と予約動線を一体で設計する。</a:t>
            </a:r>
            <a:endParaRPr lang="en-US" sz="1038" dirty="0"/>
          </a:p>
        </p:txBody>
      </p:sp>
      <p:sp>
        <p:nvSpPr>
          <p:cNvPr id="6" name="Shape 3"/>
          <p:cNvSpPr/>
          <p:nvPr/>
        </p:nvSpPr>
        <p:spPr>
          <a:xfrm>
            <a:off x="385763" y="1455204"/>
            <a:ext cx="1605893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5763" y="1455204"/>
            <a:ext cx="1605893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8" name="Text 5"/>
          <p:cNvSpPr/>
          <p:nvPr/>
        </p:nvSpPr>
        <p:spPr>
          <a:xfrm>
            <a:off x="471488" y="1526642"/>
            <a:ext cx="143444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1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471488" y="1676660"/>
            <a:ext cx="143444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コンテンツ制作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71488" y="2133860"/>
            <a:ext cx="1434443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ギャル協会が投稿・リールを制作し、サイバーバズが運営を支援する。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077380" y="1455204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077380" y="1455204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3" name="Text 10"/>
          <p:cNvSpPr/>
          <p:nvPr/>
        </p:nvSpPr>
        <p:spPr>
          <a:xfrm>
            <a:off x="2163105" y="1526642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2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2163105" y="1676660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メニュー設計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2163105" y="2133860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ENTIALが体験プログラムと価格を設計し、売れる形に落とし込む。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3769026" y="1455204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769026" y="1455204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8" name="Text 15"/>
          <p:cNvSpPr/>
          <p:nvPr/>
        </p:nvSpPr>
        <p:spPr>
          <a:xfrm>
            <a:off x="3854751" y="1526642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3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854751" y="1676660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OTA掲載・集客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3854751" y="2133860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Rakuten TravelやKlook等へ掲載し、広告と投稿で送客する。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5460671" y="1455204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460671" y="1455204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3" name="Text 20"/>
          <p:cNvSpPr/>
          <p:nvPr/>
        </p:nvSpPr>
        <p:spPr>
          <a:xfrm>
            <a:off x="5546396" y="1526642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4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5546396" y="1676660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体験実施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5546396" y="2133860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ギャル協会が出演し、当日の体験価値と撮れ高をつくる。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7152317" y="1455204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152317" y="1455204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8" name="Text 25"/>
          <p:cNvSpPr/>
          <p:nvPr/>
        </p:nvSpPr>
        <p:spPr>
          <a:xfrm>
            <a:off x="7238042" y="1526642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5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7238042" y="1676660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リピート化</a:t>
            </a:r>
            <a:endParaRPr lang="en-US" sz="1090" dirty="0"/>
          </a:p>
        </p:txBody>
      </p:sp>
      <p:sp>
        <p:nvSpPr>
          <p:cNvPr id="30" name="Text 27"/>
          <p:cNvSpPr/>
          <p:nvPr/>
        </p:nvSpPr>
        <p:spPr>
          <a:xfrm>
            <a:off x="7238042" y="2133860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UGCを再活用し、次回予約やTikTok物販への送客につなげる。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385763" y="2736726"/>
            <a:ext cx="8372475" cy="1586582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85763" y="2736726"/>
            <a:ext cx="8372475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33" name="Text 30"/>
          <p:cNvSpPr/>
          <p:nvPr/>
        </p:nvSpPr>
        <p:spPr>
          <a:xfrm>
            <a:off x="385763" y="2736726"/>
            <a:ext cx="8372475" cy="265742"/>
          </a:xfrm>
          <a:prstGeom prst="rect">
            <a:avLst/>
          </a:prstGeom>
          <a:noFill/>
          <a:ln/>
        </p:spPr>
        <p:txBody>
          <a:bodyPr wrap="none" lIns="119126" tIns="102108" rIns="119126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体験メニュー例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385763" y="3002468"/>
            <a:ext cx="4353697" cy="265016"/>
          </a:xfrm>
          <a:prstGeom prst="rect">
            <a:avLst/>
          </a:prstGeom>
          <a:noFill/>
          <a:ln/>
        </p:spPr>
        <p:txBody>
          <a:bodyPr wrap="square" lIns="119126" tIns="68072" rIns="119126" bIns="51054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メニュー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4739460" y="3002468"/>
            <a:ext cx="2009375" cy="265016"/>
          </a:xfrm>
          <a:prstGeom prst="rect">
            <a:avLst/>
          </a:prstGeom>
          <a:noFill/>
          <a:ln/>
        </p:spPr>
        <p:txBody>
          <a:bodyPr wrap="square" lIns="119126" tIns="68072" rIns="119126" bIns="51054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単価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6748835" y="3002468"/>
            <a:ext cx="2009403" cy="265016"/>
          </a:xfrm>
          <a:prstGeom prst="rect">
            <a:avLst/>
          </a:prstGeom>
          <a:noFill/>
          <a:ln/>
        </p:spPr>
        <p:txBody>
          <a:bodyPr wrap="square" lIns="119126" tIns="68072" rIns="119126" bIns="51054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所要時間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385763" y="3267484"/>
            <a:ext cx="4353697" cy="26038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ギャル変身＋渋谷フォトシュート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4739460" y="3267484"/>
            <a:ext cx="2009375" cy="26038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2.5〜4万円/人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6748835" y="3267484"/>
            <a:ext cx="2009403" cy="26038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3〜4時間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385763" y="3527868"/>
            <a:ext cx="4353697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渋谷夜遊びツアー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4739460" y="3527868"/>
            <a:ext cx="2009375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5〜8万円/人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6748835" y="3527868"/>
            <a:ext cx="2009403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4〜5時間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385763" y="3784681"/>
            <a:ext cx="4353697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ギャル文化ワークショップ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4739460" y="3784681"/>
            <a:ext cx="2009375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1.5〜2.5万円/人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6748835" y="3784681"/>
            <a:ext cx="2009403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2時間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385763" y="4041493"/>
            <a:ext cx="4353697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企業・インフルエンサー貸切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4739460" y="4041493"/>
            <a:ext cx="2009375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20〜50万円/団体</a:t>
            </a:r>
            <a:endParaRPr lang="en-US" sz="834" dirty="0"/>
          </a:p>
        </p:txBody>
      </p:sp>
      <p:sp>
        <p:nvSpPr>
          <p:cNvPr id="48" name="Text 45"/>
          <p:cNvSpPr/>
          <p:nvPr/>
        </p:nvSpPr>
        <p:spPr>
          <a:xfrm>
            <a:off x="6748835" y="4041493"/>
            <a:ext cx="2009403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半日〜1日</a:t>
            </a:r>
            <a:endParaRPr lang="en-US" sz="834" dirty="0"/>
          </a:p>
        </p:txBody>
      </p:sp>
      <p:sp>
        <p:nvSpPr>
          <p:cNvPr id="49" name="Text 46"/>
          <p:cNvSpPr/>
          <p:nvPr/>
        </p:nvSpPr>
        <p:spPr>
          <a:xfrm>
            <a:off x="385763" y="4430464"/>
            <a:ext cx="1428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GROWTH LOOP</a:t>
            </a:r>
            <a:endParaRPr lang="en-US" sz="683" dirty="0"/>
          </a:p>
        </p:txBody>
      </p:sp>
      <p:sp>
        <p:nvSpPr>
          <p:cNvPr id="50" name="Text 47"/>
          <p:cNvSpPr/>
          <p:nvPr/>
        </p:nvSpPr>
        <p:spPr>
          <a:xfrm>
            <a:off x="1814513" y="4430464"/>
            <a:ext cx="6943725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Instagramで</a:t>
            </a:r>
            <a:r>
              <a:rPr lang="en-US" sz="109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熱量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をつくり、体験で</a:t>
            </a:r>
            <a:r>
              <a:rPr lang="en-US" sz="109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UGC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を生み、そのUGCで次の集客と物販を回す。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271463"/>
            <a:ext cx="83724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 COMMERCE FLOW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385763" y="505420"/>
            <a:ext cx="5525830" cy="55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53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TikTokで見て、その場で買える。サイバー・バズのメディア立ち上げ力を生かす</a:t>
            </a:r>
            <a:endParaRPr lang="en-US" sz="1653" dirty="0"/>
          </a:p>
        </p:txBody>
      </p:sp>
      <p:sp>
        <p:nvSpPr>
          <p:cNvPr id="5" name="Text 2"/>
          <p:cNvSpPr/>
          <p:nvPr/>
        </p:nvSpPr>
        <p:spPr>
          <a:xfrm>
            <a:off x="385763" y="1161752"/>
            <a:ext cx="8372475" cy="444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物販は、</a:t>
            </a:r>
            <a:r>
              <a:rPr lang="en-US" sz="1038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企画 → 配信 → 拡散 → 購入 → 再購買</a:t>
            </a: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の流れを短くつなぐほど強い。ここでは、TikTokとWESELLを起点にその導</a:t>
            </a: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線を設計する。</a:t>
            </a:r>
            <a:endParaRPr lang="en-US" sz="1038" dirty="0"/>
          </a:p>
        </p:txBody>
      </p:sp>
      <p:sp>
        <p:nvSpPr>
          <p:cNvPr id="6" name="Shape 3"/>
          <p:cNvSpPr/>
          <p:nvPr/>
        </p:nvSpPr>
        <p:spPr>
          <a:xfrm>
            <a:off x="385763" y="1677219"/>
            <a:ext cx="1605893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5763" y="1677219"/>
            <a:ext cx="1605893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8" name="Text 5"/>
          <p:cNvSpPr/>
          <p:nvPr/>
        </p:nvSpPr>
        <p:spPr>
          <a:xfrm>
            <a:off x="471488" y="1748656"/>
            <a:ext cx="143444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1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471488" y="1898675"/>
            <a:ext cx="143444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グッズ企画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71488" y="2355875"/>
            <a:ext cx="1434443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ギャル協会が商品を監修し、ENTIALがOEM手配を進める。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077380" y="1677219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077380" y="1677219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3" name="Text 10"/>
          <p:cNvSpPr/>
          <p:nvPr/>
        </p:nvSpPr>
        <p:spPr>
          <a:xfrm>
            <a:off x="2163105" y="1748656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2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2163105" y="1898675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TikTok配信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2163105" y="2355875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サイバーバズがショート動画を制作し、WESELLで商品リンクを設置する。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3769026" y="1677219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769026" y="1677219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8" name="Text 15"/>
          <p:cNvSpPr/>
          <p:nvPr/>
        </p:nvSpPr>
        <p:spPr>
          <a:xfrm>
            <a:off x="3854751" y="1748656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3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854751" y="1898675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切り抜き拡散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3854751" y="2355875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切り抜き機能を通じて、ユーザー発の拡散を増幅させる。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5460671" y="1677219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460671" y="1677219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3" name="Text 20"/>
          <p:cNvSpPr/>
          <p:nvPr/>
        </p:nvSpPr>
        <p:spPr>
          <a:xfrm>
            <a:off x="5546396" y="1748656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4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5546396" y="1898675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購入・発送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5546396" y="2355875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ENTIALが在庫管理、海外配送、CSを担い、販売を止めずに回す。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7152317" y="1677219"/>
            <a:ext cx="1605921" cy="1231516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152317" y="1677219"/>
            <a:ext cx="1605921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8" name="Text 25"/>
          <p:cNvSpPr/>
          <p:nvPr/>
        </p:nvSpPr>
        <p:spPr>
          <a:xfrm>
            <a:off x="7238042" y="1748656"/>
            <a:ext cx="14344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34" b="1" spc="1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STEP 5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7238042" y="1898675"/>
            <a:ext cx="14344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LTV向上</a:t>
            </a:r>
            <a:endParaRPr lang="en-US" sz="1090" dirty="0"/>
          </a:p>
        </p:txBody>
      </p:sp>
      <p:sp>
        <p:nvSpPr>
          <p:cNvPr id="30" name="Text 27"/>
          <p:cNvSpPr/>
          <p:nvPr/>
        </p:nvSpPr>
        <p:spPr>
          <a:xfrm>
            <a:off x="7238042" y="2355875"/>
            <a:ext cx="1434471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F69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リピーター分析を行い、Instagram体験や次回購入へクロスセルする。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385763" y="2958740"/>
            <a:ext cx="8372475" cy="1586582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85763" y="2958740"/>
            <a:ext cx="8372475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33" name="Text 30"/>
          <p:cNvSpPr/>
          <p:nvPr/>
        </p:nvSpPr>
        <p:spPr>
          <a:xfrm>
            <a:off x="385763" y="2958740"/>
            <a:ext cx="8372475" cy="265742"/>
          </a:xfrm>
          <a:prstGeom prst="rect">
            <a:avLst/>
          </a:prstGeom>
          <a:noFill/>
          <a:ln/>
        </p:spPr>
        <p:txBody>
          <a:bodyPr wrap="none" lIns="119126" tIns="102108" rIns="119126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商品ラインナップ例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385763" y="3224482"/>
            <a:ext cx="3683887" cy="265016"/>
          </a:xfrm>
          <a:prstGeom prst="rect">
            <a:avLst/>
          </a:prstGeom>
          <a:noFill/>
          <a:ln/>
        </p:spPr>
        <p:txBody>
          <a:bodyPr wrap="square" lIns="119126" tIns="68072" rIns="119126" bIns="51054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カテゴリ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4069649" y="3224482"/>
            <a:ext cx="2344266" cy="265016"/>
          </a:xfrm>
          <a:prstGeom prst="rect">
            <a:avLst/>
          </a:prstGeom>
          <a:noFill/>
          <a:ln/>
        </p:spPr>
        <p:txBody>
          <a:bodyPr wrap="square" lIns="119126" tIns="68072" rIns="119126" bIns="51054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単価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6413915" y="3224482"/>
            <a:ext cx="2344322" cy="265016"/>
          </a:xfrm>
          <a:prstGeom prst="rect">
            <a:avLst/>
          </a:prstGeom>
          <a:noFill/>
          <a:ln/>
        </p:spPr>
        <p:txBody>
          <a:bodyPr wrap="square" lIns="119126" tIns="68072" rIns="119126" bIns="51054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粗利率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385763" y="3489499"/>
            <a:ext cx="3683887" cy="26038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ギャルメイクセット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4069649" y="3489499"/>
            <a:ext cx="2344266" cy="26038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4,000〜8,000円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6413915" y="3489499"/>
            <a:ext cx="2344322" cy="26038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55%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385763" y="3749883"/>
            <a:ext cx="3683887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ギャルアパレル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4069649" y="3749883"/>
            <a:ext cx="2344266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5,000〜12,000円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6413915" y="3749883"/>
            <a:ext cx="2344322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50%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385763" y="4006695"/>
            <a:ext cx="3683887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キャラグッズ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4069649" y="4006695"/>
            <a:ext cx="2344266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2,000〜5,000円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6413915" y="4006695"/>
            <a:ext cx="2344322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60%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385763" y="4263507"/>
            <a:ext cx="3683887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限定コラボ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4069649" y="4263507"/>
            <a:ext cx="2344266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10,000〜30,000円</a:t>
            </a:r>
            <a:endParaRPr lang="en-US" sz="834" dirty="0"/>
          </a:p>
        </p:txBody>
      </p:sp>
      <p:sp>
        <p:nvSpPr>
          <p:cNvPr id="48" name="Text 45"/>
          <p:cNvSpPr/>
          <p:nvPr/>
        </p:nvSpPr>
        <p:spPr>
          <a:xfrm>
            <a:off x="6413915" y="4263507"/>
            <a:ext cx="2344322" cy="256812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615B7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45%</a:t>
            </a:r>
            <a:endParaRPr lang="en-US" sz="834" dirty="0"/>
          </a:p>
        </p:txBody>
      </p:sp>
      <p:sp>
        <p:nvSpPr>
          <p:cNvPr id="49" name="Text 46"/>
          <p:cNvSpPr/>
          <p:nvPr/>
        </p:nvSpPr>
        <p:spPr>
          <a:xfrm>
            <a:off x="385763" y="4652479"/>
            <a:ext cx="1428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COMMERCE LOGIC</a:t>
            </a:r>
            <a:endParaRPr lang="en-US" sz="683" dirty="0"/>
          </a:p>
        </p:txBody>
      </p:sp>
      <p:sp>
        <p:nvSpPr>
          <p:cNvPr id="50" name="Text 47"/>
          <p:cNvSpPr/>
          <p:nvPr/>
        </p:nvSpPr>
        <p:spPr>
          <a:xfrm>
            <a:off x="1814513" y="4652479"/>
            <a:ext cx="6943725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TikTokで</a:t>
            </a:r>
            <a:r>
              <a:rPr lang="en-US" sz="109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衝動買い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を起こし、WESELLで</a:t>
            </a:r>
            <a:r>
              <a:rPr lang="en-US" sz="109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購買導線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をつなぎ、運用で</a:t>
            </a:r>
            <a:r>
              <a:rPr lang="en-US" sz="109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再購買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まで伸ばす。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285750"/>
            <a:ext cx="83153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OPERATIONAL BACKBONE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414338" y="533995"/>
            <a:ext cx="5820705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53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ENTIALのフル稼働</a:t>
            </a:r>
            <a:endParaRPr lang="en-US" sz="1653" dirty="0"/>
          </a:p>
        </p:txBody>
      </p:sp>
      <p:sp>
        <p:nvSpPr>
          <p:cNvPr id="5" name="Text 2"/>
          <p:cNvSpPr/>
          <p:nvPr/>
        </p:nvSpPr>
        <p:spPr>
          <a:xfrm>
            <a:off x="414338" y="916884"/>
            <a:ext cx="83153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6F68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ENTIALは、</a:t>
            </a:r>
            <a:r>
              <a:rPr lang="en-US" sz="109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現場実務・営業・進行管理</a:t>
            </a:r>
            <a:r>
              <a:rPr lang="en-US" sz="1090" b="1" dirty="0">
                <a:solidFill>
                  <a:srgbClr val="6F68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を巻き取り、ギャル協会とサイバーバズが得意領域に集中できる状態をつく</a:t>
            </a:r>
            <a:r>
              <a:rPr lang="en-US" sz="1090" b="1" dirty="0">
                <a:solidFill>
                  <a:srgbClr val="6F68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る。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14338" y="1545534"/>
            <a:ext cx="4100513" cy="1107281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14338" y="1545534"/>
            <a:ext cx="4100513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8" name="Text 5"/>
          <p:cNvSpPr/>
          <p:nvPr/>
        </p:nvSpPr>
        <p:spPr>
          <a:xfrm>
            <a:off x="414338" y="1545534"/>
            <a:ext cx="614363" cy="1107281"/>
          </a:xfrm>
          <a:prstGeom prst="rect">
            <a:avLst/>
          </a:prstGeom>
          <a:noFill/>
          <a:ln/>
        </p:spPr>
        <p:txBody>
          <a:bodyPr wrap="square" lIns="85090" tIns="102108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542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A</a:t>
            </a:r>
            <a:endParaRPr lang="en-US" sz="2542" dirty="0"/>
          </a:p>
        </p:txBody>
      </p:sp>
      <p:sp>
        <p:nvSpPr>
          <p:cNvPr id="9" name="Text 6"/>
          <p:cNvSpPr/>
          <p:nvPr/>
        </p:nvSpPr>
        <p:spPr>
          <a:xfrm>
            <a:off x="1028700" y="1631259"/>
            <a:ext cx="33575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体験オペ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1028700" y="1908414"/>
            <a:ext cx="3357563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OTA掲載、多言語対応、旅行業法対応、通訳手配、法人営業を担い、体験販売の実行基盤を整える。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629150" y="1545534"/>
            <a:ext cx="4100513" cy="1107281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29150" y="1545534"/>
            <a:ext cx="4100513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3" name="Text 10"/>
          <p:cNvSpPr/>
          <p:nvPr/>
        </p:nvSpPr>
        <p:spPr>
          <a:xfrm>
            <a:off x="4629150" y="1545534"/>
            <a:ext cx="614363" cy="1107281"/>
          </a:xfrm>
          <a:prstGeom prst="rect">
            <a:avLst/>
          </a:prstGeom>
          <a:noFill/>
          <a:ln/>
        </p:spPr>
        <p:txBody>
          <a:bodyPr wrap="square" lIns="85090" tIns="102108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542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B</a:t>
            </a:r>
            <a:endParaRPr lang="en-US" sz="2542" dirty="0"/>
          </a:p>
        </p:txBody>
      </p:sp>
      <p:sp>
        <p:nvSpPr>
          <p:cNvPr id="14" name="Text 11"/>
          <p:cNvSpPr/>
          <p:nvPr/>
        </p:nvSpPr>
        <p:spPr>
          <a:xfrm>
            <a:off x="5243513" y="1631259"/>
            <a:ext cx="33575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物販オペ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243513" y="1908414"/>
            <a:ext cx="3357563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OEMサプライヤー開拓、在庫管理、海外発送、CS構築を担い、TikTok起点の販売を止めずに回す。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14338" y="2767115"/>
            <a:ext cx="4100513" cy="1107281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14338" y="2767115"/>
            <a:ext cx="4100513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8" name="Text 15"/>
          <p:cNvSpPr/>
          <p:nvPr/>
        </p:nvSpPr>
        <p:spPr>
          <a:xfrm>
            <a:off x="414338" y="2767115"/>
            <a:ext cx="614363" cy="1107281"/>
          </a:xfrm>
          <a:prstGeom prst="rect">
            <a:avLst/>
          </a:prstGeom>
          <a:noFill/>
          <a:ln/>
        </p:spPr>
        <p:txBody>
          <a:bodyPr wrap="square" lIns="85090" tIns="102108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542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C</a:t>
            </a:r>
            <a:endParaRPr lang="en-US" sz="2542" dirty="0"/>
          </a:p>
        </p:txBody>
      </p:sp>
      <p:sp>
        <p:nvSpPr>
          <p:cNvPr id="19" name="Text 16"/>
          <p:cNvSpPr/>
          <p:nvPr/>
        </p:nvSpPr>
        <p:spPr>
          <a:xfrm>
            <a:off x="1028700" y="2852840"/>
            <a:ext cx="33575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営業・BD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1028700" y="3129995"/>
            <a:ext cx="3357563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自治体、ホテル、旅行代理店への営業に加え、営業代理店の開拓まで担い、販路を広げる。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629150" y="2767115"/>
            <a:ext cx="4100513" cy="1107281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629150" y="2767115"/>
            <a:ext cx="4100513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3" name="Text 20"/>
          <p:cNvSpPr/>
          <p:nvPr/>
        </p:nvSpPr>
        <p:spPr>
          <a:xfrm>
            <a:off x="4629150" y="2767115"/>
            <a:ext cx="614363" cy="1107281"/>
          </a:xfrm>
          <a:prstGeom prst="rect">
            <a:avLst/>
          </a:prstGeom>
          <a:noFill/>
          <a:ln/>
        </p:spPr>
        <p:txBody>
          <a:bodyPr wrap="square" lIns="85090" tIns="102108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542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D</a:t>
            </a:r>
            <a:endParaRPr lang="en-US" sz="2542" dirty="0"/>
          </a:p>
        </p:txBody>
      </p:sp>
      <p:sp>
        <p:nvSpPr>
          <p:cNvPr id="24" name="Text 21"/>
          <p:cNvSpPr/>
          <p:nvPr/>
        </p:nvSpPr>
        <p:spPr>
          <a:xfrm>
            <a:off x="5243513" y="2852840"/>
            <a:ext cx="33575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PM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5243513" y="3129995"/>
            <a:ext cx="3357563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3社合同会議、KPI予実管理、ギャル協会との調整窓口を担い、全体進行を一本化する。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14338" y="4060134"/>
            <a:ext cx="17145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WHAT BUZZ KEEPS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2128838" y="4060134"/>
            <a:ext cx="66008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サイバーバズが引き続き担うのは、</a:t>
            </a:r>
            <a:r>
              <a:rPr lang="en-US" sz="1090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IG/TikTok運営、WESELL運用、広告配信、制作費管理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の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み。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1090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つまり、バズはメディア運営に集中しながら、実務負荷なく事業を前進させられる。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257175"/>
            <a:ext cx="83724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ROLE MATRIX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385763" y="491133"/>
            <a:ext cx="5190911" cy="286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誰が何をするか、シンプルにまとめると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385763" y="877732"/>
            <a:ext cx="5525830" cy="444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機能単位で見ると、</a:t>
            </a:r>
            <a:r>
              <a:rPr lang="en-US" sz="1038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ギャル協会は魅力をつくる</a:t>
            </a: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、</a:t>
            </a:r>
            <a:r>
              <a:rPr lang="en-US" sz="1038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サイバーバズは広げる</a:t>
            </a: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、</a:t>
            </a:r>
            <a:r>
              <a:rPr lang="en-US" sz="1038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</a:t>
            </a:r>
            <a:r>
              <a:rPr lang="en-US" sz="1038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は回す</a:t>
            </a:r>
            <a:r>
              <a:rPr lang="en-US" sz="1038" b="1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という分担が明確である。</a:t>
            </a:r>
            <a:endParaRPr lang="en-US" sz="1038" dirty="0"/>
          </a:p>
        </p:txBody>
      </p:sp>
      <p:sp>
        <p:nvSpPr>
          <p:cNvPr id="6" name="Text 3"/>
          <p:cNvSpPr/>
          <p:nvPr/>
        </p:nvSpPr>
        <p:spPr>
          <a:xfrm>
            <a:off x="6972272" y="1056326"/>
            <a:ext cx="200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229447" y="1057749"/>
            <a:ext cx="200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7F789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主管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7558060" y="1056326"/>
            <a:ext cx="200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815235" y="1057749"/>
            <a:ext cx="2000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7F789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関与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8143847" y="1056326"/>
            <a:ext cx="200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8401022" y="1057749"/>
            <a:ext cx="500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7F7898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ノータッチ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385763" y="1421774"/>
            <a:ext cx="8372475" cy="3124665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85763" y="1421774"/>
            <a:ext cx="8372475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4" name="Text 11"/>
          <p:cNvSpPr/>
          <p:nvPr/>
        </p:nvSpPr>
        <p:spPr>
          <a:xfrm>
            <a:off x="385763" y="1421774"/>
            <a:ext cx="3600143" cy="345746"/>
          </a:xfrm>
          <a:prstGeom prst="rect">
            <a:avLst/>
          </a:prstGeom>
          <a:noFill/>
          <a:ln/>
        </p:spPr>
        <p:txBody>
          <a:bodyPr wrap="square" lIns="119126" tIns="119126" rIns="119126" bIns="8509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機能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985906" y="1421774"/>
            <a:ext cx="1590768" cy="345746"/>
          </a:xfrm>
          <a:prstGeom prst="rect">
            <a:avLst/>
          </a:prstGeom>
          <a:noFill/>
          <a:ln/>
        </p:spPr>
        <p:txBody>
          <a:bodyPr wrap="square" lIns="119126" tIns="119126" rIns="119126" bIns="85090" rtlCol="0" anchor="ctr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ギャル協会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576674" y="1421774"/>
            <a:ext cx="1590768" cy="345746"/>
          </a:xfrm>
          <a:prstGeom prst="rect">
            <a:avLst/>
          </a:prstGeom>
          <a:noFill/>
          <a:ln/>
        </p:spPr>
        <p:txBody>
          <a:bodyPr wrap="square" lIns="119126" tIns="119126" rIns="119126" bIns="85090" rtlCol="0" anchor="ctr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サイバーバズ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7167442" y="1421774"/>
            <a:ext cx="1590796" cy="345746"/>
          </a:xfrm>
          <a:prstGeom prst="rect">
            <a:avLst/>
          </a:prstGeom>
          <a:noFill/>
          <a:ln/>
        </p:spPr>
        <p:txBody>
          <a:bodyPr wrap="square" lIns="119126" tIns="119126" rIns="119126" bIns="85090" rtlCol="0" anchor="ctr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85763" y="1767520"/>
            <a:ext cx="3600143" cy="253603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コンテンツ出演・企画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985906" y="1767520"/>
            <a:ext cx="1590768" cy="253603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576674" y="1767520"/>
            <a:ext cx="1590768" cy="253603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7167442" y="1767520"/>
            <a:ext cx="1590796" cy="253603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385763" y="2021123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IG / TikTokメディア運営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985906" y="2021123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5576674" y="2021123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7167442" y="2021123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385763" y="2271154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体験メニュー設計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3985906" y="2271154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5576674" y="2271154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7167442" y="2271154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385763" y="2521186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OTA掲載・集客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3985906" y="2521186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5576674" y="2521186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1193" dirty="0"/>
          </a:p>
        </p:txBody>
      </p:sp>
      <p:sp>
        <p:nvSpPr>
          <p:cNvPr id="33" name="Text 30"/>
          <p:cNvSpPr/>
          <p:nvPr/>
        </p:nvSpPr>
        <p:spPr>
          <a:xfrm>
            <a:off x="7167442" y="2521186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385763" y="2771217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体験当日オペレーション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3985906" y="2771217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36" name="Text 33"/>
          <p:cNvSpPr/>
          <p:nvPr/>
        </p:nvSpPr>
        <p:spPr>
          <a:xfrm>
            <a:off x="5576674" y="2771217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37" name="Text 34"/>
          <p:cNvSpPr/>
          <p:nvPr/>
        </p:nvSpPr>
        <p:spPr>
          <a:xfrm>
            <a:off x="7167442" y="2771217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1193" dirty="0"/>
          </a:p>
        </p:txBody>
      </p:sp>
      <p:sp>
        <p:nvSpPr>
          <p:cNvPr id="38" name="Text 35"/>
          <p:cNvSpPr/>
          <p:nvPr/>
        </p:nvSpPr>
        <p:spPr>
          <a:xfrm>
            <a:off x="385763" y="3021248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グッズ企画・監修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3985906" y="3021248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40" name="Text 37"/>
          <p:cNvSpPr/>
          <p:nvPr/>
        </p:nvSpPr>
        <p:spPr>
          <a:xfrm>
            <a:off x="5576674" y="3021248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1193" dirty="0"/>
          </a:p>
        </p:txBody>
      </p:sp>
      <p:sp>
        <p:nvSpPr>
          <p:cNvPr id="41" name="Text 38"/>
          <p:cNvSpPr/>
          <p:nvPr/>
        </p:nvSpPr>
        <p:spPr>
          <a:xfrm>
            <a:off x="7167442" y="3021248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42" name="Text 39"/>
          <p:cNvSpPr/>
          <p:nvPr/>
        </p:nvSpPr>
        <p:spPr>
          <a:xfrm>
            <a:off x="385763" y="3271279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グッズ製造・物流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3985906" y="3271279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44" name="Text 41"/>
          <p:cNvSpPr/>
          <p:nvPr/>
        </p:nvSpPr>
        <p:spPr>
          <a:xfrm>
            <a:off x="5576674" y="3271279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45" name="Text 42"/>
          <p:cNvSpPr/>
          <p:nvPr/>
        </p:nvSpPr>
        <p:spPr>
          <a:xfrm>
            <a:off x="7167442" y="3271279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46" name="Text 43"/>
          <p:cNvSpPr/>
          <p:nvPr/>
        </p:nvSpPr>
        <p:spPr>
          <a:xfrm>
            <a:off x="385763" y="3521311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TikTok Shop / WESELL運用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3985906" y="3521311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48" name="Text 45"/>
          <p:cNvSpPr/>
          <p:nvPr/>
        </p:nvSpPr>
        <p:spPr>
          <a:xfrm>
            <a:off x="5576674" y="3521311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49" name="Text 46"/>
          <p:cNvSpPr/>
          <p:nvPr/>
        </p:nvSpPr>
        <p:spPr>
          <a:xfrm>
            <a:off x="7167442" y="3521311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50" name="Text 47"/>
          <p:cNvSpPr/>
          <p:nvPr/>
        </p:nvSpPr>
        <p:spPr>
          <a:xfrm>
            <a:off x="385763" y="3771342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B2B営業（自治体・企業）</a:t>
            </a:r>
            <a:endParaRPr lang="en-US" sz="834" dirty="0"/>
          </a:p>
        </p:txBody>
      </p:sp>
      <p:sp>
        <p:nvSpPr>
          <p:cNvPr id="51" name="Text 48"/>
          <p:cNvSpPr/>
          <p:nvPr/>
        </p:nvSpPr>
        <p:spPr>
          <a:xfrm>
            <a:off x="3985906" y="3771342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52" name="Text 49"/>
          <p:cNvSpPr/>
          <p:nvPr/>
        </p:nvSpPr>
        <p:spPr>
          <a:xfrm>
            <a:off x="5576674" y="3771342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○</a:t>
            </a:r>
            <a:endParaRPr lang="en-US" sz="1193" dirty="0"/>
          </a:p>
        </p:txBody>
      </p:sp>
      <p:sp>
        <p:nvSpPr>
          <p:cNvPr id="53" name="Text 50"/>
          <p:cNvSpPr/>
          <p:nvPr/>
        </p:nvSpPr>
        <p:spPr>
          <a:xfrm>
            <a:off x="7167442" y="3771342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54" name="Text 51"/>
          <p:cNvSpPr/>
          <p:nvPr/>
        </p:nvSpPr>
        <p:spPr>
          <a:xfrm>
            <a:off x="385763" y="4021373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PM・進行管理</a:t>
            </a:r>
            <a:endParaRPr lang="en-US" sz="834" dirty="0"/>
          </a:p>
        </p:txBody>
      </p:sp>
      <p:sp>
        <p:nvSpPr>
          <p:cNvPr id="55" name="Text 52"/>
          <p:cNvSpPr/>
          <p:nvPr/>
        </p:nvSpPr>
        <p:spPr>
          <a:xfrm>
            <a:off x="3985906" y="4021373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56" name="Text 53"/>
          <p:cNvSpPr/>
          <p:nvPr/>
        </p:nvSpPr>
        <p:spPr>
          <a:xfrm>
            <a:off x="5576674" y="4021373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57" name="Text 54"/>
          <p:cNvSpPr/>
          <p:nvPr/>
        </p:nvSpPr>
        <p:spPr>
          <a:xfrm>
            <a:off x="7167442" y="4021373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58" name="Text 55"/>
          <p:cNvSpPr/>
          <p:nvPr/>
        </p:nvSpPr>
        <p:spPr>
          <a:xfrm>
            <a:off x="385763" y="4271404"/>
            <a:ext cx="3600143" cy="250031"/>
          </a:xfrm>
          <a:prstGeom prst="rect">
            <a:avLst/>
          </a:prstGeom>
          <a:noFill/>
          <a:ln/>
        </p:spPr>
        <p:txBody>
          <a:bodyPr wrap="square" lIns="119126" tIns="51054" rIns="119126" bIns="34036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資金・制作費負担</a:t>
            </a:r>
            <a:endParaRPr lang="en-US" sz="834" dirty="0"/>
          </a:p>
        </p:txBody>
      </p:sp>
      <p:sp>
        <p:nvSpPr>
          <p:cNvPr id="59" name="Text 56"/>
          <p:cNvSpPr/>
          <p:nvPr/>
        </p:nvSpPr>
        <p:spPr>
          <a:xfrm>
            <a:off x="3985906" y="4271404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60" name="Text 57"/>
          <p:cNvSpPr/>
          <p:nvPr/>
        </p:nvSpPr>
        <p:spPr>
          <a:xfrm>
            <a:off x="5576674" y="4271404"/>
            <a:ext cx="1590768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◎</a:t>
            </a:r>
            <a:endParaRPr lang="en-US" sz="1193" dirty="0"/>
          </a:p>
        </p:txBody>
      </p:sp>
      <p:sp>
        <p:nvSpPr>
          <p:cNvPr id="61" name="Text 58"/>
          <p:cNvSpPr/>
          <p:nvPr/>
        </p:nvSpPr>
        <p:spPr>
          <a:xfrm>
            <a:off x="7167442" y="4271404"/>
            <a:ext cx="1590796" cy="250031"/>
          </a:xfrm>
          <a:prstGeom prst="rect">
            <a:avLst/>
          </a:prstGeom>
          <a:noFill/>
          <a:ln/>
        </p:spPr>
        <p:txBody>
          <a:bodyPr wrap="none" lIns="119126" tIns="51054" rIns="119126" bIns="34036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B05ED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−</a:t>
            </a:r>
            <a:endParaRPr lang="en-US" sz="1193" dirty="0"/>
          </a:p>
        </p:txBody>
      </p:sp>
      <p:sp>
        <p:nvSpPr>
          <p:cNvPr id="62" name="Text 59"/>
          <p:cNvSpPr/>
          <p:nvPr/>
        </p:nvSpPr>
        <p:spPr>
          <a:xfrm>
            <a:off x="385763" y="4710745"/>
            <a:ext cx="15001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TAKEAWAY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1885950" y="4710745"/>
            <a:ext cx="6872288" cy="23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41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責任分界がここまで明確だから、</a:t>
            </a:r>
            <a:r>
              <a:rPr lang="en-US" sz="1141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意思決定が速く、実行の詰まりも起きにくい。</a:t>
            </a:r>
            <a:endParaRPr lang="en-US" sz="114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285750"/>
            <a:ext cx="83153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NEXT STEP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414338" y="533995"/>
            <a:ext cx="4656581" cy="286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まずここから始めましょう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414338" y="920595"/>
            <a:ext cx="83153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6F68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最初の一歩は複雑にしなくていい。</a:t>
            </a:r>
            <a:r>
              <a:rPr lang="en-US" sz="1090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合意する、立ち上げる、載せる。</a:t>
            </a:r>
            <a:r>
              <a:rPr lang="en-US" sz="1090" b="1" dirty="0">
                <a:solidFill>
                  <a:srgbClr val="6F688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 まずはこの3つだけで十分に前へ進める。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14338" y="1342076"/>
            <a:ext cx="2686050" cy="2035941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14338" y="1342076"/>
            <a:ext cx="2686050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8" name="Text 5"/>
          <p:cNvSpPr/>
          <p:nvPr/>
        </p:nvSpPr>
        <p:spPr>
          <a:xfrm>
            <a:off x="542925" y="1456376"/>
            <a:ext cx="24288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ACTION 01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42925" y="1647806"/>
            <a:ext cx="2428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3社で合意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542925" y="2262169"/>
            <a:ext cx="2428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役割分担、収益分配、進行スケジュールを握り、共同事業の前提条件を確定する。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2925" y="3076556"/>
            <a:ext cx="2428875" cy="28002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42925" y="3076556"/>
            <a:ext cx="2428875" cy="14288"/>
          </a:xfrm>
          <a:prstGeom prst="rect">
            <a:avLst/>
          </a:prstGeom>
          <a:solidFill>
            <a:srgbClr val="EFE3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2925" y="3076556"/>
            <a:ext cx="2428875" cy="28002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〜4月末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3228975" y="1342076"/>
            <a:ext cx="2686050" cy="2035941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228975" y="1342076"/>
            <a:ext cx="2686050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16" name="Text 13"/>
          <p:cNvSpPr/>
          <p:nvPr/>
        </p:nvSpPr>
        <p:spPr>
          <a:xfrm>
            <a:off x="3357563" y="1456376"/>
            <a:ext cx="24288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ACTION 02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3357563" y="1647806"/>
            <a:ext cx="2428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IGアカウント立ち上げ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3357563" y="2262169"/>
            <a:ext cx="2428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サイバーバズ名義でアカウントを開設し、初期コンテンツ制作と運用体制をつくる。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57563" y="3076556"/>
            <a:ext cx="2428875" cy="28002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357563" y="3076556"/>
            <a:ext cx="2428875" cy="14288"/>
          </a:xfrm>
          <a:prstGeom prst="rect">
            <a:avLst/>
          </a:prstGeom>
          <a:solidFill>
            <a:srgbClr val="EFE3F7"/>
          </a:solidFill>
          <a:ln/>
        </p:spPr>
      </p:sp>
      <p:sp>
        <p:nvSpPr>
          <p:cNvPr id="21" name="Text 18"/>
          <p:cNvSpPr/>
          <p:nvPr/>
        </p:nvSpPr>
        <p:spPr>
          <a:xfrm>
            <a:off x="3357563" y="3076556"/>
            <a:ext cx="2428875" cy="28002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5月〜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6043613" y="1342076"/>
            <a:ext cx="2686050" cy="2035941"/>
          </a:xfrm>
          <a:prstGeom prst="rect">
            <a:avLst/>
          </a:prstGeom>
          <a:solidFill>
            <a:srgbClr val="FFFDF8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043613" y="1342076"/>
            <a:ext cx="2686050" cy="21431"/>
          </a:xfrm>
          <a:prstGeom prst="rect">
            <a:avLst/>
          </a:prstGeom>
          <a:solidFill>
            <a:srgbClr val="EADCF8"/>
          </a:solidFill>
          <a:ln/>
        </p:spPr>
      </p:sp>
      <p:sp>
        <p:nvSpPr>
          <p:cNvPr id="24" name="Text 21"/>
          <p:cNvSpPr/>
          <p:nvPr/>
        </p:nvSpPr>
        <p:spPr>
          <a:xfrm>
            <a:off x="6172200" y="1456376"/>
            <a:ext cx="24288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B79CFF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ACTION 03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172200" y="1647806"/>
            <a:ext cx="2428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OTA掲載準備</a:t>
            </a:r>
            <a:endParaRPr lang="en-US" sz="1397" dirty="0"/>
          </a:p>
        </p:txBody>
      </p:sp>
      <p:sp>
        <p:nvSpPr>
          <p:cNvPr id="26" name="Text 23"/>
          <p:cNvSpPr/>
          <p:nvPr/>
        </p:nvSpPr>
        <p:spPr>
          <a:xfrm>
            <a:off x="6172200" y="2262169"/>
            <a:ext cx="2428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D6784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ENTIALがRakuten Travel等への掲載申請を進め、体験商品の販売導線を先に確保する。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172200" y="3076556"/>
            <a:ext cx="2428875" cy="28002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172200" y="3076556"/>
            <a:ext cx="2428875" cy="14288"/>
          </a:xfrm>
          <a:prstGeom prst="rect">
            <a:avLst/>
          </a:prstGeom>
          <a:solidFill>
            <a:srgbClr val="EFE3F7"/>
          </a:solidFill>
          <a:ln/>
        </p:spPr>
      </p:sp>
      <p:sp>
        <p:nvSpPr>
          <p:cNvPr id="29" name="Text 26"/>
          <p:cNvSpPr/>
          <p:nvPr/>
        </p:nvSpPr>
        <p:spPr>
          <a:xfrm>
            <a:off x="6172200" y="3076556"/>
            <a:ext cx="2428875" cy="28002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5月〜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414338" y="3656623"/>
            <a:ext cx="157162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FINAL MESSAGE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1985963" y="3656623"/>
            <a:ext cx="6743700" cy="697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D84FA6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ギャル文化は、今が一番熱い。</a:t>
            </a:r>
            <a:r>
              <a:rPr lang="en-US" sz="2016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
</a:t>
            </a:r>
            <a:r>
              <a:rPr lang="en-US" sz="2016" b="1" spc="-1" kern="0" dirty="0">
                <a:solidFill>
                  <a:srgbClr val="5E5873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だから、今やる意味がある。</a:t>
            </a:r>
            <a:endParaRPr lang="en-US" sz="201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2026-04-15T13:28:28Z</dcterms:created>
  <dcterms:modified xsi:type="dcterms:W3CDTF">2026-04-15T13:28:28Z</dcterms:modified>
</cp:coreProperties>
</file>